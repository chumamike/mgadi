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20 seconds</a:t>
            </a:r>
          </a:p>
          <a:p/>
          <a:p>
            <a:r>
              <a:t>SAY</a:t>
            </a:r>
          </a:p>
          <a:p>
            <a:r>
              <a:t>Imagine you run a small business. You pay a supplier after an email says their banking details have changed. Then the real supplier calls: “We never got your money.” That is the moment Mgadi is built for.</a:t>
            </a:r>
          </a:p>
          <a:p/>
          <a:p>
            <a:r>
              <a:t>DELIVERY / DEMO</a:t>
            </a:r>
          </a:p>
          <a:p>
            <a:r>
              <a:t>Look up before the supplier’s line. Pause for two seconds. This is an illustrative scenario, not a victim testimonial.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25 seconds</a:t>
            </a:r>
          </a:p>
          <a:p/>
          <a:p>
            <a:r>
              <a:t>SAY</a:t>
            </a:r>
          </a:p>
          <a:p>
            <a:r>
              <a:t>In this example, R70 000 is not just a transaction. It is stock, wages and next week’s trading. The owner is frightened—and perhaps embarrassed. They need a next step they can understand without becoming a cybersecurity expert.</a:t>
            </a:r>
          </a:p>
          <a:p/>
          <a:p>
            <a:r>
              <a:t>DELIVERY / DEMO</a:t>
            </a:r>
          </a:p>
          <a:p>
            <a:r>
              <a:t>Slow down on “stock, wages”. Do not invent employees, a lost business or a successful recovery. Let the stakes carry the emotion.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25 seconds</a:t>
            </a:r>
          </a:p>
          <a:p/>
          <a:p>
            <a:r>
              <a:t>SAY</a:t>
            </a:r>
          </a:p>
          <a:p>
            <a:r>
              <a:t>Help exists: the bank, the supplier, IT support and other responders. But the owner has to work out the order while under pressure. Most small-business owners already have three jobs. “Incident commander” was probably not on the job advert.</a:t>
            </a:r>
          </a:p>
          <a:p/>
          <a:p>
            <a:r>
              <a:t>DELIVERY / DEMO</a:t>
            </a:r>
          </a:p>
          <a:p>
            <a:r>
              <a:t>A small smile on the job-advert line. Pause briefly if people laugh; continue naturally if they do not. The joke is about the workload.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25 seconds</a:t>
            </a:r>
          </a:p>
          <a:p/>
          <a:p>
            <a:r>
              <a:t>SAY</a:t>
            </a:r>
          </a:p>
          <a:p>
            <a:r>
              <a:t>Mgadi is a phone-first guide for the first hour after suspected payment diversion. Describe what happened, follow the next action, and keep a structured record. There is no installation or account. The bank action is available immediately, without waiting for classification.</a:t>
            </a:r>
          </a:p>
          <a:p/>
          <a:p>
            <a:r>
              <a:t>DELIVERY / DEMO</a:t>
            </a:r>
          </a:p>
          <a:p>
            <a:r>
              <a:t>Say “payment diversion” once, then use the supplier story. This slide is a flow diagram, not a screenshot of unbuilt screens.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85 seconds</a:t>
            </a:r>
          </a:p>
          <a:p/>
          <a:p>
            <a:r>
              <a:t>SAY</a:t>
            </a:r>
          </a:p>
          <a:p>
            <a:r>
              <a:t>Here is our synthetic supplier incident. The request contains masked contact details. Now we add an instruction telling Mgadi to use a fake number. The next actions still come from our local playbook and bank directory. Today, I will state whether this demo uses rules or the optional AI adapter. Next, we fingerprint a file locally and download the incident pack. Change an amount in the pack without updating its checksum: the check fails. That detects this edit; it does not prove the original was genuine.</a:t>
            </a:r>
          </a:p>
          <a:p/>
          <a:p>
            <a:r>
              <a:t>DELIVERY / DEMO</a:t>
            </a:r>
          </a:p>
          <a:p>
            <a:r>
              <a:t>Switch to localhost or tested HTTPS. Show a prepared Network request payload, not just a promise about redaction. Use the exact demo recipe in the handbook. Do not call a live fraud line. Have pack files and a backup recording ready. If only rules are enabled, this is a rules-path hostile-input demonstration, not a live AI injection test.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25 seconds</a:t>
            </a:r>
          </a:p>
          <a:p/>
          <a:p>
            <a:r>
              <a:t>SAY</a:t>
            </a:r>
          </a:p>
          <a:p>
            <a:r>
              <a:t>The optional AI has one narrow job: classify the masked description. It cannot write response instructions. Invalid output falls back to rules, and evidence file bytes stay on the device. The playbook is a draft awaiting practitioner review; redaction reduces exposure but cannot guarantee anonymity.</a:t>
            </a:r>
          </a:p>
          <a:p/>
          <a:p>
            <a:r>
              <a:t>DELIVERY / DEMO</a:t>
            </a:r>
          </a:p>
          <a:p>
            <a:r>
              <a:t>No claim of certification, blanket POPIA compliance or production readiness. Refer to the live request and directory if challenged.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30 seconds</a:t>
            </a:r>
          </a:p>
          <a:p/>
          <a:p>
            <a:r>
              <a:t>SAY</a:t>
            </a:r>
          </a:p>
          <a:p>
            <a:r>
              <a:t>The current entry passes seven automated tests and routes all seven synthetic smoke cases correctly. There were zero unsafe misses among its two payment-diversion cases. That is useful prototype evidence, not a real-world accuracy claim. Our next test is fresh owner descriptions and measured time to the first correct action.</a:t>
            </a:r>
          </a:p>
          <a:p/>
          <a:p>
            <a:r>
              <a:t>DELIVERY / DEMO</a:t>
            </a:r>
          </a:p>
          <a:p>
            <a:r>
              <a:t>Point out the small denominators. Do not reuse larger rehearsal scores. Replace these numbers only after rerunning the entry and recording exactly which set was used.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25 seconds</a:t>
            </a:r>
          </a:p>
          <a:p/>
          <a:p>
            <a:r>
              <a:t>SAY</a:t>
            </a:r>
          </a:p>
          <a:p>
            <a:r>
              <a:t>For the owner, the value is less to work out in a frightening moment. For the next responder, it is a clearer starting record. We do not promise recovered money. We want to help the owner take an appropriate action and explain what happened more clearly.</a:t>
            </a:r>
          </a:p>
          <a:p/>
          <a:p>
            <a:r>
              <a:t>DELIVERY / DEMO</a:t>
            </a:r>
          </a:p>
          <a:p>
            <a:r>
              <a:t>Shift from tension toward relief. Avoid a fictional happy ending. Do not imply banks already accept this format.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20 seconds</a:t>
            </a:r>
          </a:p>
          <a:p/>
          <a:p>
            <a:r>
              <a:t>SAY</a:t>
            </a:r>
          </a:p>
          <a:p>
            <a:r>
              <a:t>Our proposed route is through accountants and small-business associations before a crisis. Keep emergency guidance free, and test partner sponsorship and paid readiness tools. These are hypotheses: we have not validated pricing or signed distribution partners.</a:t>
            </a:r>
          </a:p>
          <a:p/>
          <a:p>
            <a:r>
              <a:t>DELIVERY / DEMO</a:t>
            </a:r>
          </a:p>
          <a:p>
            <a:r>
              <a:t>This is the business plan, not a list of existing features or customers.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20 seconds</a:t>
            </a:r>
          </a:p>
          <a:p/>
          <a:p>
            <a:r>
              <a:t>SAY</a:t>
            </a:r>
          </a:p>
          <a:p>
            <a:r>
              <a:t>We are asking for one practitioner to review the playbook, and ten small businesses to test the workflow. Because after “we never got your money”, an owner deserves something clearer than panic. Mgadi. The first hour, guided.</a:t>
            </a:r>
          </a:p>
          <a:p/>
          <a:p>
            <a:r>
              <a:t>DELIVERY / DEMO</a:t>
            </a:r>
          </a:p>
          <a:p>
            <a:r>
              <a:t>Make the ask directly to the room. Hold eye contact at the end. Keep this slide up during Q&amp;A.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0 seconds</a:t>
            </a:r>
          </a:p>
          <a:p/>
          <a:p>
            <a:r>
              <a:t>SAY</a:t>
            </a:r>
          </a:p>
          <a:p>
            <a:r>
              <a:t>Redaction is pattern-based, with owner-supplied names. Provider retention and cross-border processing need review before real personal data is used. The pack is a handoff record, not an anonymised public document.</a:t>
            </a:r>
          </a:p>
          <a:p/>
          <a:p>
            <a:r>
              <a:t>DELIVERY / DEMO</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0 seconds</a:t>
            </a:r>
          </a:p>
          <a:p/>
          <a:p>
            <a:r>
              <a:t>SAY</a:t>
            </a:r>
          </a:p>
          <a:p>
            <a:r>
              <a:t>Web Crypto needs localhost or HTTPS. Local rules are a fallback after assets have loaded; the app is not a fully offline installable product. The current unclear route gives a bank-first conditional action rather than an implemented clarifying-question screen.</a:t>
            </a:r>
          </a:p>
          <a:p/>
          <a:p>
            <a:r>
              <a:t>DELIVERY / DEMO</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0 seconds</a:t>
            </a:r>
          </a:p>
          <a:p/>
          <a:p>
            <a:r>
              <a:t>SAY</a:t>
            </a:r>
          </a:p>
          <a:p>
            <a:r>
              <a:t>These are intended brand associations, not universal psychological facts. Use forest/ivory for roughly 80% of the deck. Amber highlights, not body text on white. Red only for urgency; green only for checked/completed states. Pair statuses with labels and shapes.</a:t>
            </a:r>
          </a:p>
          <a:p/>
          <a:p>
            <a:r>
              <a:t>DELIVERY / DEMO</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0 seconds</a:t>
            </a:r>
          </a:p>
          <a:p/>
          <a:p>
            <a:r>
              <a:t>SAY</a:t>
            </a:r>
          </a:p>
          <a:p>
            <a:r>
              <a:t>The old deck’s statistics and named competitor descriptions were removed, so the pitch does not rely on unverified current external claims. No claim that the submission-stage criteria are the final judging rubric.</a:t>
            </a:r>
          </a:p>
          <a:p/>
          <a:p>
            <a:r>
              <a:t>DELIVERY / DEMO</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3C35"/>
        </a:solidFill>
        <a:effectLst/>
      </p:bgPr>
    </p:bg>
    <p:spTree>
      <p:nvGrpSpPr>
        <p:cNvPr id="1" name=""/>
        <p:cNvGrpSpPr/>
        <p:nvPr/>
      </p:nvGrpSpPr>
      <p:grpSpPr/>
      <p:sp>
        <p:nvSpPr>
          <p:cNvPr id="2" name="Rectangle 1"/>
          <p:cNvSpPr/>
          <p:nvPr/>
        </p:nvSpPr>
        <p:spPr>
          <a:xfrm>
            <a:off x="502920" y="402336"/>
            <a:ext cx="91440" cy="210312"/>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56616"/>
            <a:ext cx="2743200" cy="320040"/>
          </a:xfrm>
          <a:prstGeom prst="rect">
            <a:avLst/>
          </a:prstGeom>
          <a:noFill/>
        </p:spPr>
        <p:txBody>
          <a:bodyPr wrap="square" lIns="0" rIns="0" tIns="0" bIns="0">
            <a:spAutoFit/>
          </a:bodyPr>
          <a:lstStyle/>
          <a:p>
            <a:pPr>
              <a:lnSpc>
                <a:spcPct val="110000"/>
              </a:lnSpc>
              <a:spcAft>
                <a:spcPts val="0"/>
              </a:spcAft>
              <a:defRPr sz="1900" b="1">
                <a:solidFill>
                  <a:srgbClr val="F7F4EC"/>
                </a:solidFill>
                <a:latin typeface="Aptos"/>
              </a:defRPr>
            </a:pPr>
            <a:r>
              <a:t>Mgadi</a:t>
            </a:r>
          </a:p>
        </p:txBody>
      </p:sp>
      <p:sp>
        <p:nvSpPr>
          <p:cNvPr id="4" name="TextBox 3"/>
          <p:cNvSpPr txBox="1"/>
          <p:nvPr/>
        </p:nvSpPr>
        <p:spPr>
          <a:xfrm>
            <a:off x="6583680" y="393192"/>
            <a:ext cx="5074920" cy="274320"/>
          </a:xfrm>
          <a:prstGeom prst="rect">
            <a:avLst/>
          </a:prstGeom>
          <a:noFill/>
        </p:spPr>
        <p:txBody>
          <a:bodyPr wrap="square" lIns="0" rIns="0" tIns="0" bIns="0">
            <a:spAutoFit/>
          </a:bodyPr>
          <a:lstStyle/>
          <a:p>
            <a:pPr>
              <a:lnSpc>
                <a:spcPct val="110000"/>
              </a:lnSpc>
              <a:spcAft>
                <a:spcPts val="0"/>
              </a:spcAft>
              <a:defRPr sz="1000" b="0">
                <a:solidFill>
                  <a:srgbClr val="C8DED0"/>
                </a:solidFill>
                <a:latin typeface="Aptos"/>
              </a:defRPr>
            </a:pPr>
            <a:r>
              <a:t>HACKSECURE 2026  /  TRACK 3  /  soloDolo</a:t>
            </a:r>
          </a:p>
        </p:txBody>
      </p:sp>
      <p:sp>
        <p:nvSpPr>
          <p:cNvPr id="5" name="TextBox 4"/>
          <p:cNvSpPr txBox="1"/>
          <p:nvPr/>
        </p:nvSpPr>
        <p:spPr>
          <a:xfrm>
            <a:off x="731520" y="932688"/>
            <a:ext cx="10058400" cy="274320"/>
          </a:xfrm>
          <a:prstGeom prst="rect">
            <a:avLst/>
          </a:prstGeom>
          <a:noFill/>
        </p:spPr>
        <p:txBody>
          <a:bodyPr wrap="square" lIns="0" rIns="0" tIns="0" bIns="0">
            <a:spAutoFit/>
          </a:bodyPr>
          <a:lstStyle/>
          <a:p>
            <a:pPr>
              <a:lnSpc>
                <a:spcPct val="110000"/>
              </a:lnSpc>
              <a:spcAft>
                <a:spcPts val="0"/>
              </a:spcAft>
              <a:defRPr sz="1100" b="1">
                <a:solidFill>
                  <a:srgbClr val="E9B44C"/>
                </a:solidFill>
                <a:latin typeface="Aptos"/>
              </a:defRPr>
            </a:pPr>
            <a:r>
              <a:t>01 / THE MOMENT</a:t>
            </a:r>
          </a:p>
        </p:txBody>
      </p:sp>
      <p:sp>
        <p:nvSpPr>
          <p:cNvPr id="6" name="Rectangle 5"/>
          <p:cNvSpPr/>
          <p:nvPr/>
        </p:nvSpPr>
        <p:spPr>
          <a:xfrm>
            <a:off x="731520" y="6391656"/>
            <a:ext cx="10725912" cy="10972"/>
          </a:xfrm>
          <a:prstGeom prst="rect">
            <a:avLst/>
          </a:prstGeom>
          <a:solidFill>
            <a:srgbClr val="5064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9144000" cy="182880"/>
          </a:xfrm>
          <a:prstGeom prst="rect">
            <a:avLst/>
          </a:prstGeom>
          <a:noFill/>
        </p:spPr>
        <p:txBody>
          <a:bodyPr wrap="square" lIns="0" rIns="0" tIns="0" bIns="0">
            <a:spAutoFit/>
          </a:bodyPr>
          <a:lstStyle/>
          <a:p>
            <a:pPr>
              <a:lnSpc>
                <a:spcPct val="110000"/>
              </a:lnSpc>
              <a:spcAft>
                <a:spcPts val="0"/>
              </a:spcAft>
              <a:defRPr sz="900" b="0">
                <a:solidFill>
                  <a:srgbClr val="C8DED0"/>
                </a:solidFill>
                <a:latin typeface="Aptos"/>
              </a:defRPr>
            </a:pPr>
            <a:r>
              <a:t>FIRST-HOUR SCAM RESPONSE  ·  SOUTH AFRICAN SMALL BUSINESSES</a:t>
            </a:r>
          </a:p>
        </p:txBody>
      </p:sp>
      <p:sp>
        <p:nvSpPr>
          <p:cNvPr id="8" name="TextBox 7"/>
          <p:cNvSpPr txBox="1"/>
          <p:nvPr/>
        </p:nvSpPr>
        <p:spPr>
          <a:xfrm>
            <a:off x="10972800" y="6492240"/>
            <a:ext cx="457200" cy="182880"/>
          </a:xfrm>
          <a:prstGeom prst="rect">
            <a:avLst/>
          </a:prstGeom>
          <a:noFill/>
        </p:spPr>
        <p:txBody>
          <a:bodyPr wrap="square" lIns="0" rIns="0" tIns="0" bIns="0">
            <a:spAutoFit/>
          </a:bodyPr>
          <a:lstStyle/>
          <a:p>
            <a:pPr>
              <a:lnSpc>
                <a:spcPct val="110000"/>
              </a:lnSpc>
              <a:spcAft>
                <a:spcPts val="0"/>
              </a:spcAft>
              <a:defRPr sz="1000" b="0">
                <a:solidFill>
                  <a:srgbClr val="F7F4EC"/>
                </a:solidFill>
                <a:latin typeface="Aptos"/>
              </a:defRPr>
            </a:pPr>
            <a:r>
              <a:t>01</a:t>
            </a:r>
          </a:p>
        </p:txBody>
      </p:sp>
      <p:sp>
        <p:nvSpPr>
          <p:cNvPr id="9" name="TextBox 8"/>
          <p:cNvSpPr txBox="1"/>
          <p:nvPr/>
        </p:nvSpPr>
        <p:spPr>
          <a:xfrm>
            <a:off x="731520" y="1508760"/>
            <a:ext cx="9784080" cy="2194560"/>
          </a:xfrm>
          <a:prstGeom prst="rect">
            <a:avLst/>
          </a:prstGeom>
          <a:noFill/>
        </p:spPr>
        <p:txBody>
          <a:bodyPr wrap="square" lIns="0" rIns="0" tIns="0" bIns="0">
            <a:spAutoFit/>
          </a:bodyPr>
          <a:lstStyle/>
          <a:p>
            <a:pPr>
              <a:lnSpc>
                <a:spcPct val="110000"/>
              </a:lnSpc>
              <a:spcAft>
                <a:spcPts val="0"/>
              </a:spcAft>
              <a:defRPr sz="4300" b="1">
                <a:solidFill>
                  <a:srgbClr val="F7F4EC"/>
                </a:solidFill>
                <a:latin typeface="Aptos"/>
              </a:defRPr>
            </a:pPr>
            <a:r>
              <a:t>The supplier called.</a:t>
            </a:r>
          </a:p>
          <a:p>
            <a:pPr>
              <a:lnSpc>
                <a:spcPct val="110000"/>
              </a:lnSpc>
              <a:spcAft>
                <a:spcPts val="0"/>
              </a:spcAft>
              <a:defRPr sz="4300" b="1">
                <a:solidFill>
                  <a:srgbClr val="F7F4EC"/>
                </a:solidFill>
                <a:latin typeface="Aptos"/>
              </a:defRPr>
            </a:pPr>
            <a:r>
              <a:t>“We never got your money.”</a:t>
            </a:r>
          </a:p>
        </p:txBody>
      </p:sp>
      <p:sp>
        <p:nvSpPr>
          <p:cNvPr id="10" name="TextBox 9"/>
          <p:cNvSpPr txBox="1"/>
          <p:nvPr/>
        </p:nvSpPr>
        <p:spPr>
          <a:xfrm>
            <a:off x="758952" y="4096512"/>
            <a:ext cx="9601200" cy="640080"/>
          </a:xfrm>
          <a:prstGeom prst="rect">
            <a:avLst/>
          </a:prstGeom>
          <a:noFill/>
        </p:spPr>
        <p:txBody>
          <a:bodyPr wrap="square" lIns="0" rIns="0" tIns="0" bIns="0">
            <a:spAutoFit/>
          </a:bodyPr>
          <a:lstStyle/>
          <a:p>
            <a:pPr>
              <a:lnSpc>
                <a:spcPct val="110000"/>
              </a:lnSpc>
              <a:spcAft>
                <a:spcPts val="0"/>
              </a:spcAft>
              <a:defRPr sz="2600" b="0">
                <a:solidFill>
                  <a:srgbClr val="C8DED0"/>
                </a:solidFill>
                <a:latin typeface="Aptos"/>
              </a:defRPr>
            </a:pPr>
            <a:r>
              <a:t>You paid the “updated” bank account. Now what?</a:t>
            </a:r>
          </a:p>
        </p:txBody>
      </p:sp>
      <p:sp>
        <p:nvSpPr>
          <p:cNvPr id="11" name="Rounded Rectangle 10"/>
          <p:cNvSpPr/>
          <p:nvPr/>
        </p:nvSpPr>
        <p:spPr>
          <a:xfrm>
            <a:off x="758952" y="5212080"/>
            <a:ext cx="6172200" cy="594360"/>
          </a:xfrm>
          <a:prstGeom prst="roundRect">
            <a:avLst>
              <a:gd name="adj" fmla="val 12000"/>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5312664"/>
            <a:ext cx="5806440" cy="420624"/>
          </a:xfrm>
          <a:prstGeom prst="rect">
            <a:avLst/>
          </a:prstGeom>
          <a:noFill/>
        </p:spPr>
        <p:txBody>
          <a:bodyPr wrap="square" lIns="0" rIns="0" tIns="0" bIns="0">
            <a:spAutoFit/>
          </a:bodyPr>
          <a:lstStyle/>
          <a:p>
            <a:pPr>
              <a:lnSpc>
                <a:spcPct val="110000"/>
              </a:lnSpc>
              <a:spcAft>
                <a:spcPts val="0"/>
              </a:spcAft>
              <a:defRPr sz="2200" b="1">
                <a:solidFill>
                  <a:srgbClr val="123C35"/>
                </a:solidFill>
                <a:latin typeface="Aptos"/>
              </a:defRPr>
            </a:pPr>
            <a:r>
              <a:t>Mgadi  /  The first hour, guided.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502920" y="402336"/>
            <a:ext cx="91440" cy="210312"/>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56616"/>
            <a:ext cx="2743200" cy="320040"/>
          </a:xfrm>
          <a:prstGeom prst="rect">
            <a:avLst/>
          </a:prstGeom>
          <a:noFill/>
        </p:spPr>
        <p:txBody>
          <a:bodyPr wrap="square" lIns="0" rIns="0" tIns="0" bIns="0">
            <a:spAutoFit/>
          </a:bodyPr>
          <a:lstStyle/>
          <a:p>
            <a:pPr>
              <a:lnSpc>
                <a:spcPct val="110000"/>
              </a:lnSpc>
              <a:spcAft>
                <a:spcPts val="0"/>
              </a:spcAft>
              <a:defRPr sz="1900" b="1">
                <a:solidFill>
                  <a:srgbClr val="123C35"/>
                </a:solidFill>
                <a:latin typeface="Aptos"/>
              </a:defRPr>
            </a:pPr>
            <a:r>
              <a:t>Mgadi</a:t>
            </a:r>
          </a:p>
        </p:txBody>
      </p:sp>
      <p:sp>
        <p:nvSpPr>
          <p:cNvPr id="4" name="TextBox 3"/>
          <p:cNvSpPr txBox="1"/>
          <p:nvPr/>
        </p:nvSpPr>
        <p:spPr>
          <a:xfrm>
            <a:off x="6583680" y="393192"/>
            <a:ext cx="5074920" cy="274320"/>
          </a:xfrm>
          <a:prstGeom prst="rect">
            <a:avLst/>
          </a:prstGeom>
          <a:noFill/>
        </p:spPr>
        <p:txBody>
          <a:bodyPr wrap="square" lIns="0" rIns="0" tIns="0" bIns="0">
            <a:spAutoFit/>
          </a:bodyPr>
          <a:lstStyle/>
          <a:p>
            <a:pPr>
              <a:lnSpc>
                <a:spcPct val="110000"/>
              </a:lnSpc>
              <a:spcAft>
                <a:spcPts val="0"/>
              </a:spcAft>
              <a:defRPr sz="1000" b="0">
                <a:solidFill>
                  <a:srgbClr val="50645D"/>
                </a:solidFill>
                <a:latin typeface="Aptos"/>
              </a:defRPr>
            </a:pPr>
            <a:r>
              <a:t>HACKSECURE 2026  /  TRACK 3  /  soloDolo</a:t>
            </a:r>
          </a:p>
        </p:txBody>
      </p:sp>
      <p:sp>
        <p:nvSpPr>
          <p:cNvPr id="5" name="TextBox 4"/>
          <p:cNvSpPr txBox="1"/>
          <p:nvPr/>
        </p:nvSpPr>
        <p:spPr>
          <a:xfrm>
            <a:off x="731520" y="932688"/>
            <a:ext cx="10058400" cy="274320"/>
          </a:xfrm>
          <a:prstGeom prst="rect">
            <a:avLst/>
          </a:prstGeom>
          <a:noFill/>
        </p:spPr>
        <p:txBody>
          <a:bodyPr wrap="square" lIns="0" rIns="0" tIns="0" bIns="0">
            <a:spAutoFit/>
          </a:bodyPr>
          <a:lstStyle/>
          <a:p>
            <a:pPr>
              <a:lnSpc>
                <a:spcPct val="110000"/>
              </a:lnSpc>
              <a:spcAft>
                <a:spcPts val="0"/>
              </a:spcAft>
              <a:defRPr sz="1100" b="1">
                <a:solidFill>
                  <a:srgbClr val="50645D"/>
                </a:solidFill>
                <a:latin typeface="Aptos"/>
              </a:defRPr>
            </a:pPr>
            <a:r>
              <a:t>02 / THE STAKES</a:t>
            </a:r>
          </a:p>
        </p:txBody>
      </p:sp>
      <p:sp>
        <p:nvSpPr>
          <p:cNvPr id="6" name="Rectangle 5"/>
          <p:cNvSpPr/>
          <p:nvPr/>
        </p:nvSpPr>
        <p:spPr>
          <a:xfrm>
            <a:off x="731520" y="6391656"/>
            <a:ext cx="10725912" cy="10972"/>
          </a:xfrm>
          <a:prstGeom prst="rect">
            <a:avLst/>
          </a:prstGeom>
          <a:solidFill>
            <a:srgbClr val="C5D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9144000" cy="182880"/>
          </a:xfrm>
          <a:prstGeom prst="rect">
            <a:avLst/>
          </a:prstGeom>
          <a:noFill/>
        </p:spPr>
        <p:txBody>
          <a:bodyPr wrap="square" lIns="0" rIns="0" tIns="0" bIns="0">
            <a:spAutoFit/>
          </a:bodyPr>
          <a:lstStyle/>
          <a:p>
            <a:pPr>
              <a:lnSpc>
                <a:spcPct val="110000"/>
              </a:lnSpc>
              <a:spcAft>
                <a:spcPts val="0"/>
              </a:spcAft>
              <a:defRPr sz="900" b="0">
                <a:solidFill>
                  <a:srgbClr val="50645D"/>
                </a:solidFill>
                <a:latin typeface="Aptos"/>
              </a:defRPr>
            </a:pPr>
            <a:r>
              <a:t>FIRST-HOUR SCAM RESPONSE  ·  SOUTH AFRICAN SMALL BUSINESSES</a:t>
            </a:r>
          </a:p>
        </p:txBody>
      </p:sp>
      <p:sp>
        <p:nvSpPr>
          <p:cNvPr id="8" name="TextBox 7"/>
          <p:cNvSpPr txBox="1"/>
          <p:nvPr/>
        </p:nvSpPr>
        <p:spPr>
          <a:xfrm>
            <a:off x="10972800" y="6492240"/>
            <a:ext cx="457200" cy="182880"/>
          </a:xfrm>
          <a:prstGeom prst="rect">
            <a:avLst/>
          </a:prstGeom>
          <a:noFill/>
        </p:spPr>
        <p:txBody>
          <a:bodyPr wrap="square" lIns="0" rIns="0" tIns="0" bIns="0">
            <a:spAutoFit/>
          </a:bodyPr>
          <a:lstStyle/>
          <a:p>
            <a:pPr>
              <a:lnSpc>
                <a:spcPct val="110000"/>
              </a:lnSpc>
              <a:spcAft>
                <a:spcPts val="0"/>
              </a:spcAft>
              <a:defRPr sz="1000" b="0">
                <a:solidFill>
                  <a:srgbClr val="123C35"/>
                </a:solidFill>
                <a:latin typeface="Aptos"/>
              </a:defRPr>
            </a:pPr>
            <a:r>
              <a:t>02</a:t>
            </a:r>
          </a:p>
        </p:txBody>
      </p:sp>
      <p:sp>
        <p:nvSpPr>
          <p:cNvPr id="9" name="TextBox 8"/>
          <p:cNvSpPr txBox="1"/>
          <p:nvPr/>
        </p:nvSpPr>
        <p:spPr>
          <a:xfrm>
            <a:off x="731520" y="1417320"/>
            <a:ext cx="5486400" cy="1188720"/>
          </a:xfrm>
          <a:prstGeom prst="rect">
            <a:avLst/>
          </a:prstGeom>
          <a:noFill/>
        </p:spPr>
        <p:txBody>
          <a:bodyPr wrap="square" lIns="0" rIns="0" tIns="0" bIns="0">
            <a:spAutoFit/>
          </a:bodyPr>
          <a:lstStyle/>
          <a:p>
            <a:pPr>
              <a:lnSpc>
                <a:spcPct val="110000"/>
              </a:lnSpc>
              <a:spcAft>
                <a:spcPts val="0"/>
              </a:spcAft>
              <a:defRPr sz="7600" b="1">
                <a:solidFill>
                  <a:srgbClr val="123C35"/>
                </a:solidFill>
                <a:latin typeface="Aptos"/>
              </a:defRPr>
            </a:pPr>
            <a:r>
              <a:t>R70 000</a:t>
            </a:r>
          </a:p>
        </p:txBody>
      </p:sp>
      <p:sp>
        <p:nvSpPr>
          <p:cNvPr id="10" name="TextBox 9"/>
          <p:cNvSpPr txBox="1"/>
          <p:nvPr/>
        </p:nvSpPr>
        <p:spPr>
          <a:xfrm>
            <a:off x="758952" y="2743200"/>
            <a:ext cx="5303520" cy="1645920"/>
          </a:xfrm>
          <a:prstGeom prst="rect">
            <a:avLst/>
          </a:prstGeom>
          <a:noFill/>
        </p:spPr>
        <p:txBody>
          <a:bodyPr wrap="square" lIns="0" rIns="0" tIns="0" bIns="0">
            <a:spAutoFit/>
          </a:bodyPr>
          <a:lstStyle/>
          <a:p>
            <a:pPr>
              <a:lnSpc>
                <a:spcPct val="110000"/>
              </a:lnSpc>
              <a:spcAft>
                <a:spcPts val="0"/>
              </a:spcAft>
              <a:defRPr sz="4000" b="1">
                <a:solidFill>
                  <a:srgbClr val="162E29"/>
                </a:solidFill>
                <a:latin typeface="Aptos"/>
              </a:defRPr>
            </a:pPr>
            <a:r>
              <a:t>Stock. Wages.</a:t>
            </a:r>
          </a:p>
          <a:p>
            <a:pPr>
              <a:lnSpc>
                <a:spcPct val="110000"/>
              </a:lnSpc>
              <a:spcAft>
                <a:spcPts val="0"/>
              </a:spcAft>
              <a:defRPr sz="4000" b="1">
                <a:solidFill>
                  <a:srgbClr val="162E29"/>
                </a:solidFill>
                <a:latin typeface="Aptos"/>
              </a:defRPr>
            </a:pPr>
            <a:r>
              <a:t>Next week.</a:t>
            </a:r>
          </a:p>
        </p:txBody>
      </p:sp>
      <p:sp>
        <p:nvSpPr>
          <p:cNvPr id="11" name="TextBox 10"/>
          <p:cNvSpPr txBox="1"/>
          <p:nvPr/>
        </p:nvSpPr>
        <p:spPr>
          <a:xfrm>
            <a:off x="758952" y="5093208"/>
            <a:ext cx="5120640" cy="594360"/>
          </a:xfrm>
          <a:prstGeom prst="rect">
            <a:avLst/>
          </a:prstGeom>
          <a:noFill/>
        </p:spPr>
        <p:txBody>
          <a:bodyPr wrap="square" lIns="0" rIns="0" tIns="0" bIns="0">
            <a:spAutoFit/>
          </a:bodyPr>
          <a:lstStyle/>
          <a:p>
            <a:pPr>
              <a:lnSpc>
                <a:spcPct val="110000"/>
              </a:lnSpc>
              <a:spcAft>
                <a:spcPts val="0"/>
              </a:spcAft>
              <a:defRPr sz="1000" b="1">
                <a:solidFill>
                  <a:srgbClr val="50645D"/>
                </a:solidFill>
                <a:latin typeface="Aptos"/>
              </a:defRPr>
            </a:pPr>
            <a:r>
              <a:t>ILLUSTRATIVE SCENARIO · NOT A MEASURED LOSS</a:t>
            </a:r>
          </a:p>
        </p:txBody>
      </p:sp>
      <p:sp>
        <p:nvSpPr>
          <p:cNvPr id="12" name="Rounded Rectangle 11"/>
          <p:cNvSpPr/>
          <p:nvPr/>
        </p:nvSpPr>
        <p:spPr>
          <a:xfrm>
            <a:off x="6510528" y="1508760"/>
            <a:ext cx="4919472" cy="4389120"/>
          </a:xfrm>
          <a:prstGeom prst="roundRect">
            <a:avLst>
              <a:gd name="adj" fmla="val 12000"/>
            </a:avLst>
          </a:prstGeom>
          <a:solidFill>
            <a:srgbClr val="123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76288" y="1911095"/>
            <a:ext cx="4160520" cy="365760"/>
          </a:xfrm>
          <a:prstGeom prst="rect">
            <a:avLst/>
          </a:prstGeom>
          <a:noFill/>
        </p:spPr>
        <p:txBody>
          <a:bodyPr wrap="square" lIns="0" rIns="0" tIns="0" bIns="0">
            <a:spAutoFit/>
          </a:bodyPr>
          <a:lstStyle/>
          <a:p>
            <a:pPr>
              <a:lnSpc>
                <a:spcPct val="110000"/>
              </a:lnSpc>
              <a:spcAft>
                <a:spcPts val="0"/>
              </a:spcAft>
              <a:defRPr sz="1200" b="1">
                <a:solidFill>
                  <a:srgbClr val="E9B44C"/>
                </a:solidFill>
                <a:latin typeface="Aptos"/>
              </a:defRPr>
            </a:pPr>
            <a:r>
              <a:t>THE OWNER IS THINKING</a:t>
            </a:r>
          </a:p>
        </p:txBody>
      </p:sp>
      <p:sp>
        <p:nvSpPr>
          <p:cNvPr id="14" name="TextBox 13"/>
          <p:cNvSpPr txBox="1"/>
          <p:nvPr/>
        </p:nvSpPr>
        <p:spPr>
          <a:xfrm>
            <a:off x="6876288" y="2606040"/>
            <a:ext cx="4023360" cy="2423160"/>
          </a:xfrm>
          <a:prstGeom prst="rect">
            <a:avLst/>
          </a:prstGeom>
          <a:noFill/>
        </p:spPr>
        <p:txBody>
          <a:bodyPr wrap="square" lIns="0" rIns="0" tIns="0" bIns="0">
            <a:spAutoFit/>
          </a:bodyPr>
          <a:lstStyle/>
          <a:p>
            <a:pPr>
              <a:lnSpc>
                <a:spcPct val="110000"/>
              </a:lnSpc>
              <a:spcAft>
                <a:spcPts val="0"/>
              </a:spcAft>
              <a:defRPr sz="2900" b="0">
                <a:solidFill>
                  <a:srgbClr val="F7F4EC"/>
                </a:solidFill>
                <a:latin typeface="Aptos"/>
              </a:defRPr>
            </a:pPr>
            <a:r>
              <a:t>“Do I call the bank?</a:t>
            </a:r>
          </a:p>
          <a:p>
            <a:pPr>
              <a:lnSpc>
                <a:spcPct val="110000"/>
              </a:lnSpc>
              <a:spcAft>
                <a:spcPts val="0"/>
              </a:spcAft>
              <a:defRPr sz="2900" b="0">
                <a:solidFill>
                  <a:srgbClr val="F7F4EC"/>
                </a:solidFill>
                <a:latin typeface="Aptos"/>
              </a:defRPr>
            </a:pPr>
            <a:r>
              <a:t>The supplier?</a:t>
            </a:r>
          </a:p>
          <a:p>
            <a:pPr>
              <a:lnSpc>
                <a:spcPct val="110000"/>
              </a:lnSpc>
              <a:spcAft>
                <a:spcPts val="0"/>
              </a:spcAft>
              <a:defRPr sz="2900" b="0">
                <a:solidFill>
                  <a:srgbClr val="F7F4EC"/>
                </a:solidFill>
                <a:latin typeface="Aptos"/>
              </a:defRPr>
            </a:pPr>
            <a:r>
              <a:t>Who do I tell first?”</a:t>
            </a:r>
          </a:p>
        </p:txBody>
      </p:sp>
      <p:sp>
        <p:nvSpPr>
          <p:cNvPr id="15" name="TextBox 14"/>
          <p:cNvSpPr txBox="1"/>
          <p:nvPr/>
        </p:nvSpPr>
        <p:spPr>
          <a:xfrm>
            <a:off x="6876288" y="5148072"/>
            <a:ext cx="4023360" cy="365760"/>
          </a:xfrm>
          <a:prstGeom prst="rect">
            <a:avLst/>
          </a:prstGeom>
          <a:noFill/>
        </p:spPr>
        <p:txBody>
          <a:bodyPr wrap="square" lIns="0" rIns="0" tIns="0" bIns="0">
            <a:spAutoFit/>
          </a:bodyPr>
          <a:lstStyle/>
          <a:p>
            <a:pPr>
              <a:lnSpc>
                <a:spcPct val="110000"/>
              </a:lnSpc>
              <a:spcAft>
                <a:spcPts val="0"/>
              </a:spcAft>
              <a:defRPr sz="1600" b="0">
                <a:solidFill>
                  <a:srgbClr val="C8DED0"/>
                </a:solidFill>
                <a:latin typeface="Aptos"/>
              </a:defRPr>
            </a:pPr>
            <a:r>
              <a:t>Pressure makes the next step harder.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502920" y="402336"/>
            <a:ext cx="91440" cy="210312"/>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56616"/>
            <a:ext cx="2743200" cy="320040"/>
          </a:xfrm>
          <a:prstGeom prst="rect">
            <a:avLst/>
          </a:prstGeom>
          <a:noFill/>
        </p:spPr>
        <p:txBody>
          <a:bodyPr wrap="square" lIns="0" rIns="0" tIns="0" bIns="0">
            <a:spAutoFit/>
          </a:bodyPr>
          <a:lstStyle/>
          <a:p>
            <a:pPr>
              <a:lnSpc>
                <a:spcPct val="110000"/>
              </a:lnSpc>
              <a:spcAft>
                <a:spcPts val="0"/>
              </a:spcAft>
              <a:defRPr sz="1900" b="1">
                <a:solidFill>
                  <a:srgbClr val="123C35"/>
                </a:solidFill>
                <a:latin typeface="Aptos"/>
              </a:defRPr>
            </a:pPr>
            <a:r>
              <a:t>Mgadi</a:t>
            </a:r>
          </a:p>
        </p:txBody>
      </p:sp>
      <p:sp>
        <p:nvSpPr>
          <p:cNvPr id="4" name="TextBox 3"/>
          <p:cNvSpPr txBox="1"/>
          <p:nvPr/>
        </p:nvSpPr>
        <p:spPr>
          <a:xfrm>
            <a:off x="6583680" y="393192"/>
            <a:ext cx="5074920" cy="274320"/>
          </a:xfrm>
          <a:prstGeom prst="rect">
            <a:avLst/>
          </a:prstGeom>
          <a:noFill/>
        </p:spPr>
        <p:txBody>
          <a:bodyPr wrap="square" lIns="0" rIns="0" tIns="0" bIns="0">
            <a:spAutoFit/>
          </a:bodyPr>
          <a:lstStyle/>
          <a:p>
            <a:pPr>
              <a:lnSpc>
                <a:spcPct val="110000"/>
              </a:lnSpc>
              <a:spcAft>
                <a:spcPts val="0"/>
              </a:spcAft>
              <a:defRPr sz="1000" b="0">
                <a:solidFill>
                  <a:srgbClr val="50645D"/>
                </a:solidFill>
                <a:latin typeface="Aptos"/>
              </a:defRPr>
            </a:pPr>
            <a:r>
              <a:t>HACKSECURE 2026  /  TRACK 3  /  soloDolo</a:t>
            </a:r>
          </a:p>
        </p:txBody>
      </p:sp>
      <p:sp>
        <p:nvSpPr>
          <p:cNvPr id="5" name="TextBox 4"/>
          <p:cNvSpPr txBox="1"/>
          <p:nvPr/>
        </p:nvSpPr>
        <p:spPr>
          <a:xfrm>
            <a:off x="731520" y="932688"/>
            <a:ext cx="10058400" cy="274320"/>
          </a:xfrm>
          <a:prstGeom prst="rect">
            <a:avLst/>
          </a:prstGeom>
          <a:noFill/>
        </p:spPr>
        <p:txBody>
          <a:bodyPr wrap="square" lIns="0" rIns="0" tIns="0" bIns="0">
            <a:spAutoFit/>
          </a:bodyPr>
          <a:lstStyle/>
          <a:p>
            <a:pPr>
              <a:lnSpc>
                <a:spcPct val="110000"/>
              </a:lnSpc>
              <a:spcAft>
                <a:spcPts val="0"/>
              </a:spcAft>
              <a:defRPr sz="1100" b="1">
                <a:solidFill>
                  <a:srgbClr val="50645D"/>
                </a:solidFill>
                <a:latin typeface="Aptos"/>
              </a:defRPr>
            </a:pPr>
            <a:r>
              <a:t>03 / THE RESPONSE GAP</a:t>
            </a:r>
          </a:p>
        </p:txBody>
      </p:sp>
      <p:sp>
        <p:nvSpPr>
          <p:cNvPr id="6" name="Rectangle 5"/>
          <p:cNvSpPr/>
          <p:nvPr/>
        </p:nvSpPr>
        <p:spPr>
          <a:xfrm>
            <a:off x="731520" y="6391656"/>
            <a:ext cx="10725912" cy="10972"/>
          </a:xfrm>
          <a:prstGeom prst="rect">
            <a:avLst/>
          </a:prstGeom>
          <a:solidFill>
            <a:srgbClr val="C5D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9144000" cy="182880"/>
          </a:xfrm>
          <a:prstGeom prst="rect">
            <a:avLst/>
          </a:prstGeom>
          <a:noFill/>
        </p:spPr>
        <p:txBody>
          <a:bodyPr wrap="square" lIns="0" rIns="0" tIns="0" bIns="0">
            <a:spAutoFit/>
          </a:bodyPr>
          <a:lstStyle/>
          <a:p>
            <a:pPr>
              <a:lnSpc>
                <a:spcPct val="110000"/>
              </a:lnSpc>
              <a:spcAft>
                <a:spcPts val="0"/>
              </a:spcAft>
              <a:defRPr sz="900" b="0">
                <a:solidFill>
                  <a:srgbClr val="50645D"/>
                </a:solidFill>
                <a:latin typeface="Aptos"/>
              </a:defRPr>
            </a:pPr>
            <a:r>
              <a:t>FIRST-HOUR SCAM RESPONSE  ·  SOUTH AFRICAN SMALL BUSINESSES</a:t>
            </a:r>
          </a:p>
        </p:txBody>
      </p:sp>
      <p:sp>
        <p:nvSpPr>
          <p:cNvPr id="8" name="TextBox 7"/>
          <p:cNvSpPr txBox="1"/>
          <p:nvPr/>
        </p:nvSpPr>
        <p:spPr>
          <a:xfrm>
            <a:off x="10972800" y="6492240"/>
            <a:ext cx="457200" cy="182880"/>
          </a:xfrm>
          <a:prstGeom prst="rect">
            <a:avLst/>
          </a:prstGeom>
          <a:noFill/>
        </p:spPr>
        <p:txBody>
          <a:bodyPr wrap="square" lIns="0" rIns="0" tIns="0" bIns="0">
            <a:spAutoFit/>
          </a:bodyPr>
          <a:lstStyle/>
          <a:p>
            <a:pPr>
              <a:lnSpc>
                <a:spcPct val="110000"/>
              </a:lnSpc>
              <a:spcAft>
                <a:spcPts val="0"/>
              </a:spcAft>
              <a:defRPr sz="1000" b="0">
                <a:solidFill>
                  <a:srgbClr val="123C35"/>
                </a:solidFill>
                <a:latin typeface="Aptos"/>
              </a:defRPr>
            </a:pPr>
            <a:r>
              <a:t>03</a:t>
            </a:r>
          </a:p>
        </p:txBody>
      </p:sp>
      <p:sp>
        <p:nvSpPr>
          <p:cNvPr id="9" name="TextBox 8"/>
          <p:cNvSpPr txBox="1"/>
          <p:nvPr/>
        </p:nvSpPr>
        <p:spPr>
          <a:xfrm>
            <a:off x="731520" y="1389888"/>
            <a:ext cx="10515600" cy="1188720"/>
          </a:xfrm>
          <a:prstGeom prst="rect">
            <a:avLst/>
          </a:prstGeom>
          <a:noFill/>
        </p:spPr>
        <p:txBody>
          <a:bodyPr wrap="square" lIns="0" rIns="0" tIns="0" bIns="0">
            <a:spAutoFit/>
          </a:bodyPr>
          <a:lstStyle/>
          <a:p>
            <a:pPr>
              <a:lnSpc>
                <a:spcPct val="110000"/>
              </a:lnSpc>
              <a:spcAft>
                <a:spcPts val="0"/>
              </a:spcAft>
              <a:defRPr sz="3900" b="1">
                <a:solidFill>
                  <a:srgbClr val="123C35"/>
                </a:solidFill>
                <a:latin typeface="Aptos"/>
              </a:defRPr>
            </a:pPr>
            <a:r>
              <a:t>Knowing who to call</a:t>
            </a:r>
          </a:p>
          <a:p>
            <a:pPr>
              <a:lnSpc>
                <a:spcPct val="110000"/>
              </a:lnSpc>
              <a:spcAft>
                <a:spcPts val="0"/>
              </a:spcAft>
              <a:defRPr sz="3900" b="1">
                <a:solidFill>
                  <a:srgbClr val="123C35"/>
                </a:solidFill>
                <a:latin typeface="Aptos"/>
              </a:defRPr>
            </a:pPr>
            <a:r>
              <a:t>shouldn’t be another crisis.</a:t>
            </a:r>
          </a:p>
        </p:txBody>
      </p:sp>
      <p:sp>
        <p:nvSpPr>
          <p:cNvPr id="10" name="Rounded Rectangle 9"/>
          <p:cNvSpPr/>
          <p:nvPr/>
        </p:nvSpPr>
        <p:spPr>
          <a:xfrm>
            <a:off x="758952" y="3154680"/>
            <a:ext cx="3337560" cy="1627632"/>
          </a:xfrm>
          <a:prstGeom prst="roundRect">
            <a:avLst>
              <a:gd name="adj" fmla="val 12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3337560"/>
            <a:ext cx="548640" cy="320040"/>
          </a:xfrm>
          <a:prstGeom prst="rect">
            <a:avLst/>
          </a:prstGeom>
          <a:noFill/>
        </p:spPr>
        <p:txBody>
          <a:bodyPr wrap="square" lIns="0" rIns="0" tIns="0" bIns="0">
            <a:spAutoFit/>
          </a:bodyPr>
          <a:lstStyle/>
          <a:p>
            <a:pPr>
              <a:lnSpc>
                <a:spcPct val="110000"/>
              </a:lnSpc>
              <a:spcAft>
                <a:spcPts val="0"/>
              </a:spcAft>
              <a:defRPr sz="1400" b="1">
                <a:solidFill>
                  <a:srgbClr val="50645D"/>
                </a:solidFill>
                <a:latin typeface="Aptos"/>
              </a:defRPr>
            </a:pPr>
            <a:r>
              <a:t>01</a:t>
            </a:r>
          </a:p>
        </p:txBody>
      </p:sp>
      <p:sp>
        <p:nvSpPr>
          <p:cNvPr id="12" name="TextBox 11"/>
          <p:cNvSpPr txBox="1"/>
          <p:nvPr/>
        </p:nvSpPr>
        <p:spPr>
          <a:xfrm>
            <a:off x="987552" y="3767328"/>
            <a:ext cx="2880360" cy="411480"/>
          </a:xfrm>
          <a:prstGeom prst="rect">
            <a:avLst/>
          </a:prstGeom>
          <a:noFill/>
        </p:spPr>
        <p:txBody>
          <a:bodyPr wrap="square" lIns="0" rIns="0" tIns="0" bIns="0">
            <a:spAutoFit/>
          </a:bodyPr>
          <a:lstStyle/>
          <a:p>
            <a:pPr>
              <a:lnSpc>
                <a:spcPct val="110000"/>
              </a:lnSpc>
              <a:spcAft>
                <a:spcPts val="0"/>
              </a:spcAft>
              <a:defRPr sz="2500" b="1">
                <a:solidFill>
                  <a:srgbClr val="123C35"/>
                </a:solidFill>
                <a:latin typeface="Aptos"/>
              </a:defRPr>
            </a:pPr>
            <a:r>
              <a:t>Bank</a:t>
            </a:r>
          </a:p>
        </p:txBody>
      </p:sp>
      <p:sp>
        <p:nvSpPr>
          <p:cNvPr id="13" name="TextBox 12"/>
          <p:cNvSpPr txBox="1"/>
          <p:nvPr/>
        </p:nvSpPr>
        <p:spPr>
          <a:xfrm>
            <a:off x="987552" y="4325112"/>
            <a:ext cx="2880360" cy="274320"/>
          </a:xfrm>
          <a:prstGeom prst="rect">
            <a:avLst/>
          </a:prstGeom>
          <a:noFill/>
        </p:spPr>
        <p:txBody>
          <a:bodyPr wrap="square" lIns="0" rIns="0" tIns="0" bIns="0">
            <a:spAutoFit/>
          </a:bodyPr>
          <a:lstStyle/>
          <a:p>
            <a:pPr>
              <a:lnSpc>
                <a:spcPct val="110000"/>
              </a:lnSpc>
              <a:spcAft>
                <a:spcPts val="0"/>
              </a:spcAft>
              <a:defRPr sz="1600" b="0">
                <a:solidFill>
                  <a:srgbClr val="50645D"/>
                </a:solidFill>
                <a:latin typeface="Aptos"/>
              </a:defRPr>
            </a:pPr>
            <a:r>
              <a:t>Payment response</a:t>
            </a:r>
          </a:p>
        </p:txBody>
      </p:sp>
      <p:sp>
        <p:nvSpPr>
          <p:cNvPr id="14" name="Rounded Rectangle 13"/>
          <p:cNvSpPr/>
          <p:nvPr/>
        </p:nvSpPr>
        <p:spPr>
          <a:xfrm>
            <a:off x="4416552" y="3154680"/>
            <a:ext cx="3337560" cy="1627632"/>
          </a:xfrm>
          <a:prstGeom prst="roundRect">
            <a:avLst>
              <a:gd name="adj" fmla="val 12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45152" y="3337560"/>
            <a:ext cx="548640" cy="320040"/>
          </a:xfrm>
          <a:prstGeom prst="rect">
            <a:avLst/>
          </a:prstGeom>
          <a:noFill/>
        </p:spPr>
        <p:txBody>
          <a:bodyPr wrap="square" lIns="0" rIns="0" tIns="0" bIns="0">
            <a:spAutoFit/>
          </a:bodyPr>
          <a:lstStyle/>
          <a:p>
            <a:pPr>
              <a:lnSpc>
                <a:spcPct val="110000"/>
              </a:lnSpc>
              <a:spcAft>
                <a:spcPts val="0"/>
              </a:spcAft>
              <a:defRPr sz="1400" b="1">
                <a:solidFill>
                  <a:srgbClr val="50645D"/>
                </a:solidFill>
                <a:latin typeface="Aptos"/>
              </a:defRPr>
            </a:pPr>
            <a:r>
              <a:t>02</a:t>
            </a:r>
          </a:p>
        </p:txBody>
      </p:sp>
      <p:sp>
        <p:nvSpPr>
          <p:cNvPr id="16" name="TextBox 15"/>
          <p:cNvSpPr txBox="1"/>
          <p:nvPr/>
        </p:nvSpPr>
        <p:spPr>
          <a:xfrm>
            <a:off x="4645152" y="3767328"/>
            <a:ext cx="2880360" cy="411480"/>
          </a:xfrm>
          <a:prstGeom prst="rect">
            <a:avLst/>
          </a:prstGeom>
          <a:noFill/>
        </p:spPr>
        <p:txBody>
          <a:bodyPr wrap="square" lIns="0" rIns="0" tIns="0" bIns="0">
            <a:spAutoFit/>
          </a:bodyPr>
          <a:lstStyle/>
          <a:p>
            <a:pPr>
              <a:lnSpc>
                <a:spcPct val="110000"/>
              </a:lnSpc>
              <a:spcAft>
                <a:spcPts val="0"/>
              </a:spcAft>
              <a:defRPr sz="2500" b="1">
                <a:solidFill>
                  <a:srgbClr val="123C35"/>
                </a:solidFill>
                <a:latin typeface="Aptos"/>
              </a:defRPr>
            </a:pPr>
            <a:r>
              <a:t>Supplier + IT</a:t>
            </a:r>
          </a:p>
        </p:txBody>
      </p:sp>
      <p:sp>
        <p:nvSpPr>
          <p:cNvPr id="17" name="TextBox 16"/>
          <p:cNvSpPr txBox="1"/>
          <p:nvPr/>
        </p:nvSpPr>
        <p:spPr>
          <a:xfrm>
            <a:off x="4645152" y="4325112"/>
            <a:ext cx="2880360" cy="274320"/>
          </a:xfrm>
          <a:prstGeom prst="rect">
            <a:avLst/>
          </a:prstGeom>
          <a:noFill/>
        </p:spPr>
        <p:txBody>
          <a:bodyPr wrap="square" lIns="0" rIns="0" tIns="0" bIns="0">
            <a:spAutoFit/>
          </a:bodyPr>
          <a:lstStyle/>
          <a:p>
            <a:pPr>
              <a:lnSpc>
                <a:spcPct val="110000"/>
              </a:lnSpc>
              <a:spcAft>
                <a:spcPts val="0"/>
              </a:spcAft>
              <a:defRPr sz="1600" b="0">
                <a:solidFill>
                  <a:srgbClr val="50645D"/>
                </a:solidFill>
                <a:latin typeface="Aptos"/>
              </a:defRPr>
            </a:pPr>
            <a:r>
              <a:t>Confirm and contain</a:t>
            </a:r>
          </a:p>
        </p:txBody>
      </p:sp>
      <p:sp>
        <p:nvSpPr>
          <p:cNvPr id="18" name="Rounded Rectangle 17"/>
          <p:cNvSpPr/>
          <p:nvPr/>
        </p:nvSpPr>
        <p:spPr>
          <a:xfrm>
            <a:off x="8074152" y="3154680"/>
            <a:ext cx="3337560" cy="1627632"/>
          </a:xfrm>
          <a:prstGeom prst="roundRect">
            <a:avLst>
              <a:gd name="adj" fmla="val 12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2752" y="3337560"/>
            <a:ext cx="548640" cy="320040"/>
          </a:xfrm>
          <a:prstGeom prst="rect">
            <a:avLst/>
          </a:prstGeom>
          <a:noFill/>
        </p:spPr>
        <p:txBody>
          <a:bodyPr wrap="square" lIns="0" rIns="0" tIns="0" bIns="0">
            <a:spAutoFit/>
          </a:bodyPr>
          <a:lstStyle/>
          <a:p>
            <a:pPr>
              <a:lnSpc>
                <a:spcPct val="110000"/>
              </a:lnSpc>
              <a:spcAft>
                <a:spcPts val="0"/>
              </a:spcAft>
              <a:defRPr sz="1400" b="1">
                <a:solidFill>
                  <a:srgbClr val="50645D"/>
                </a:solidFill>
                <a:latin typeface="Aptos"/>
              </a:defRPr>
            </a:pPr>
            <a:r>
              <a:t>03</a:t>
            </a:r>
          </a:p>
        </p:txBody>
      </p:sp>
      <p:sp>
        <p:nvSpPr>
          <p:cNvPr id="20" name="TextBox 19"/>
          <p:cNvSpPr txBox="1"/>
          <p:nvPr/>
        </p:nvSpPr>
        <p:spPr>
          <a:xfrm>
            <a:off x="8302752" y="3767328"/>
            <a:ext cx="2880360" cy="411480"/>
          </a:xfrm>
          <a:prstGeom prst="rect">
            <a:avLst/>
          </a:prstGeom>
          <a:noFill/>
        </p:spPr>
        <p:txBody>
          <a:bodyPr wrap="square" lIns="0" rIns="0" tIns="0" bIns="0">
            <a:spAutoFit/>
          </a:bodyPr>
          <a:lstStyle/>
          <a:p>
            <a:pPr>
              <a:lnSpc>
                <a:spcPct val="110000"/>
              </a:lnSpc>
              <a:spcAft>
                <a:spcPts val="0"/>
              </a:spcAft>
              <a:defRPr sz="2500" b="1">
                <a:solidFill>
                  <a:srgbClr val="123C35"/>
                </a:solidFill>
                <a:latin typeface="Aptos"/>
              </a:defRPr>
            </a:pPr>
            <a:r>
              <a:t>Next responder</a:t>
            </a:r>
          </a:p>
        </p:txBody>
      </p:sp>
      <p:sp>
        <p:nvSpPr>
          <p:cNvPr id="21" name="TextBox 20"/>
          <p:cNvSpPr txBox="1"/>
          <p:nvPr/>
        </p:nvSpPr>
        <p:spPr>
          <a:xfrm>
            <a:off x="8302752" y="4325112"/>
            <a:ext cx="2880360" cy="274320"/>
          </a:xfrm>
          <a:prstGeom prst="rect">
            <a:avLst/>
          </a:prstGeom>
          <a:noFill/>
        </p:spPr>
        <p:txBody>
          <a:bodyPr wrap="square" lIns="0" rIns="0" tIns="0" bIns="0">
            <a:spAutoFit/>
          </a:bodyPr>
          <a:lstStyle/>
          <a:p>
            <a:pPr>
              <a:lnSpc>
                <a:spcPct val="110000"/>
              </a:lnSpc>
              <a:spcAft>
                <a:spcPts val="0"/>
              </a:spcAft>
              <a:defRPr sz="1600" b="0">
                <a:solidFill>
                  <a:srgbClr val="50645D"/>
                </a:solidFill>
                <a:latin typeface="Aptos"/>
              </a:defRPr>
            </a:pPr>
            <a:r>
              <a:t>Incident record</a:t>
            </a:r>
          </a:p>
        </p:txBody>
      </p:sp>
      <p:sp>
        <p:nvSpPr>
          <p:cNvPr id="22" name="TextBox 21"/>
          <p:cNvSpPr txBox="1"/>
          <p:nvPr/>
        </p:nvSpPr>
        <p:spPr>
          <a:xfrm>
            <a:off x="758952" y="5257800"/>
            <a:ext cx="10424160" cy="548640"/>
          </a:xfrm>
          <a:prstGeom prst="rect">
            <a:avLst/>
          </a:prstGeom>
          <a:noFill/>
        </p:spPr>
        <p:txBody>
          <a:bodyPr wrap="square" lIns="0" rIns="0" tIns="0" bIns="0">
            <a:spAutoFit/>
          </a:bodyPr>
          <a:lstStyle/>
          <a:p>
            <a:pPr>
              <a:lnSpc>
                <a:spcPct val="110000"/>
              </a:lnSpc>
              <a:spcAft>
                <a:spcPts val="0"/>
              </a:spcAft>
              <a:defRPr sz="2500" b="0">
                <a:solidFill>
                  <a:srgbClr val="162E29"/>
                </a:solidFill>
                <a:latin typeface="Aptos"/>
              </a:defRPr>
            </a:pPr>
            <a:r>
              <a:t>Help exists. The owner still has to find the order.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3C35"/>
        </a:solidFill>
        <a:effectLst/>
      </p:bgPr>
    </p:bg>
    <p:spTree>
      <p:nvGrpSpPr>
        <p:cNvPr id="1" name=""/>
        <p:cNvGrpSpPr/>
        <p:nvPr/>
      </p:nvGrpSpPr>
      <p:grpSpPr/>
      <p:sp>
        <p:nvSpPr>
          <p:cNvPr id="2" name="Rectangle 1"/>
          <p:cNvSpPr/>
          <p:nvPr/>
        </p:nvSpPr>
        <p:spPr>
          <a:xfrm>
            <a:off x="502920" y="402336"/>
            <a:ext cx="91440" cy="210312"/>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56616"/>
            <a:ext cx="2743200" cy="320040"/>
          </a:xfrm>
          <a:prstGeom prst="rect">
            <a:avLst/>
          </a:prstGeom>
          <a:noFill/>
        </p:spPr>
        <p:txBody>
          <a:bodyPr wrap="square" lIns="0" rIns="0" tIns="0" bIns="0">
            <a:spAutoFit/>
          </a:bodyPr>
          <a:lstStyle/>
          <a:p>
            <a:pPr>
              <a:lnSpc>
                <a:spcPct val="110000"/>
              </a:lnSpc>
              <a:spcAft>
                <a:spcPts val="0"/>
              </a:spcAft>
              <a:defRPr sz="1900" b="1">
                <a:solidFill>
                  <a:srgbClr val="F7F4EC"/>
                </a:solidFill>
                <a:latin typeface="Aptos"/>
              </a:defRPr>
            </a:pPr>
            <a:r>
              <a:t>Mgadi</a:t>
            </a:r>
          </a:p>
        </p:txBody>
      </p:sp>
      <p:sp>
        <p:nvSpPr>
          <p:cNvPr id="4" name="TextBox 3"/>
          <p:cNvSpPr txBox="1"/>
          <p:nvPr/>
        </p:nvSpPr>
        <p:spPr>
          <a:xfrm>
            <a:off x="6583680" y="393192"/>
            <a:ext cx="5074920" cy="274320"/>
          </a:xfrm>
          <a:prstGeom prst="rect">
            <a:avLst/>
          </a:prstGeom>
          <a:noFill/>
        </p:spPr>
        <p:txBody>
          <a:bodyPr wrap="square" lIns="0" rIns="0" tIns="0" bIns="0">
            <a:spAutoFit/>
          </a:bodyPr>
          <a:lstStyle/>
          <a:p>
            <a:pPr>
              <a:lnSpc>
                <a:spcPct val="110000"/>
              </a:lnSpc>
              <a:spcAft>
                <a:spcPts val="0"/>
              </a:spcAft>
              <a:defRPr sz="1000" b="0">
                <a:solidFill>
                  <a:srgbClr val="C8DED0"/>
                </a:solidFill>
                <a:latin typeface="Aptos"/>
              </a:defRPr>
            </a:pPr>
            <a:r>
              <a:t>HACKSECURE 2026  /  TRACK 3  /  soloDolo</a:t>
            </a:r>
          </a:p>
        </p:txBody>
      </p:sp>
      <p:sp>
        <p:nvSpPr>
          <p:cNvPr id="5" name="TextBox 4"/>
          <p:cNvSpPr txBox="1"/>
          <p:nvPr/>
        </p:nvSpPr>
        <p:spPr>
          <a:xfrm>
            <a:off x="731520" y="932688"/>
            <a:ext cx="10058400" cy="274320"/>
          </a:xfrm>
          <a:prstGeom prst="rect">
            <a:avLst/>
          </a:prstGeom>
          <a:noFill/>
        </p:spPr>
        <p:txBody>
          <a:bodyPr wrap="square" lIns="0" rIns="0" tIns="0" bIns="0">
            <a:spAutoFit/>
          </a:bodyPr>
          <a:lstStyle/>
          <a:p>
            <a:pPr>
              <a:lnSpc>
                <a:spcPct val="110000"/>
              </a:lnSpc>
              <a:spcAft>
                <a:spcPts val="0"/>
              </a:spcAft>
              <a:defRPr sz="1100" b="1">
                <a:solidFill>
                  <a:srgbClr val="E9B44C"/>
                </a:solidFill>
                <a:latin typeface="Aptos"/>
              </a:defRPr>
            </a:pPr>
            <a:r>
              <a:t>04 / THE SOLUTION</a:t>
            </a:r>
          </a:p>
        </p:txBody>
      </p:sp>
      <p:sp>
        <p:nvSpPr>
          <p:cNvPr id="6" name="Rectangle 5"/>
          <p:cNvSpPr/>
          <p:nvPr/>
        </p:nvSpPr>
        <p:spPr>
          <a:xfrm>
            <a:off x="731520" y="6391656"/>
            <a:ext cx="10725912" cy="10972"/>
          </a:xfrm>
          <a:prstGeom prst="rect">
            <a:avLst/>
          </a:prstGeom>
          <a:solidFill>
            <a:srgbClr val="5064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9144000" cy="182880"/>
          </a:xfrm>
          <a:prstGeom prst="rect">
            <a:avLst/>
          </a:prstGeom>
          <a:noFill/>
        </p:spPr>
        <p:txBody>
          <a:bodyPr wrap="square" lIns="0" rIns="0" tIns="0" bIns="0">
            <a:spAutoFit/>
          </a:bodyPr>
          <a:lstStyle/>
          <a:p>
            <a:pPr>
              <a:lnSpc>
                <a:spcPct val="110000"/>
              </a:lnSpc>
              <a:spcAft>
                <a:spcPts val="0"/>
              </a:spcAft>
              <a:defRPr sz="900" b="0">
                <a:solidFill>
                  <a:srgbClr val="C8DED0"/>
                </a:solidFill>
                <a:latin typeface="Aptos"/>
              </a:defRPr>
            </a:pPr>
            <a:r>
              <a:t>FIRST-HOUR SCAM RESPONSE  ·  SOUTH AFRICAN SMALL BUSINESSES</a:t>
            </a:r>
          </a:p>
        </p:txBody>
      </p:sp>
      <p:sp>
        <p:nvSpPr>
          <p:cNvPr id="8" name="TextBox 7"/>
          <p:cNvSpPr txBox="1"/>
          <p:nvPr/>
        </p:nvSpPr>
        <p:spPr>
          <a:xfrm>
            <a:off x="10972800" y="6492240"/>
            <a:ext cx="457200" cy="182880"/>
          </a:xfrm>
          <a:prstGeom prst="rect">
            <a:avLst/>
          </a:prstGeom>
          <a:noFill/>
        </p:spPr>
        <p:txBody>
          <a:bodyPr wrap="square" lIns="0" rIns="0" tIns="0" bIns="0">
            <a:spAutoFit/>
          </a:bodyPr>
          <a:lstStyle/>
          <a:p>
            <a:pPr>
              <a:lnSpc>
                <a:spcPct val="110000"/>
              </a:lnSpc>
              <a:spcAft>
                <a:spcPts val="0"/>
              </a:spcAft>
              <a:defRPr sz="1000" b="0">
                <a:solidFill>
                  <a:srgbClr val="F7F4EC"/>
                </a:solidFill>
                <a:latin typeface="Aptos"/>
              </a:defRPr>
            </a:pPr>
            <a:r>
              <a:t>04</a:t>
            </a:r>
          </a:p>
        </p:txBody>
      </p:sp>
      <p:sp>
        <p:nvSpPr>
          <p:cNvPr id="9" name="TextBox 8"/>
          <p:cNvSpPr txBox="1"/>
          <p:nvPr/>
        </p:nvSpPr>
        <p:spPr>
          <a:xfrm>
            <a:off x="731520" y="1417320"/>
            <a:ext cx="10515600" cy="1508760"/>
          </a:xfrm>
          <a:prstGeom prst="rect">
            <a:avLst/>
          </a:prstGeom>
          <a:noFill/>
        </p:spPr>
        <p:txBody>
          <a:bodyPr wrap="square" lIns="0" rIns="0" tIns="0" bIns="0">
            <a:spAutoFit/>
          </a:bodyPr>
          <a:lstStyle/>
          <a:p>
            <a:pPr>
              <a:lnSpc>
                <a:spcPct val="110000"/>
              </a:lnSpc>
              <a:spcAft>
                <a:spcPts val="0"/>
              </a:spcAft>
              <a:defRPr sz="4300" b="1">
                <a:solidFill>
                  <a:srgbClr val="F7F4EC"/>
                </a:solidFill>
                <a:latin typeface="Aptos"/>
              </a:defRPr>
            </a:pPr>
            <a:r>
              <a:t>From panic</a:t>
            </a:r>
          </a:p>
          <a:p>
            <a:pPr>
              <a:lnSpc>
                <a:spcPct val="110000"/>
              </a:lnSpc>
              <a:spcAft>
                <a:spcPts val="0"/>
              </a:spcAft>
              <a:defRPr sz="4300" b="1">
                <a:solidFill>
                  <a:srgbClr val="F7F4EC"/>
                </a:solidFill>
                <a:latin typeface="Aptos"/>
              </a:defRPr>
            </a:pPr>
            <a:r>
              <a:t>to a safe next step.</a:t>
            </a:r>
          </a:p>
        </p:txBody>
      </p:sp>
      <p:sp>
        <p:nvSpPr>
          <p:cNvPr id="10" name="TextBox 9"/>
          <p:cNvSpPr txBox="1"/>
          <p:nvPr/>
        </p:nvSpPr>
        <p:spPr>
          <a:xfrm>
            <a:off x="758952" y="2944368"/>
            <a:ext cx="10058400" cy="548640"/>
          </a:xfrm>
          <a:prstGeom prst="rect">
            <a:avLst/>
          </a:prstGeom>
          <a:noFill/>
        </p:spPr>
        <p:txBody>
          <a:bodyPr wrap="square" lIns="0" rIns="0" tIns="0" bIns="0">
            <a:spAutoFit/>
          </a:bodyPr>
          <a:lstStyle/>
          <a:p>
            <a:pPr>
              <a:lnSpc>
                <a:spcPct val="110000"/>
              </a:lnSpc>
              <a:spcAft>
                <a:spcPts val="0"/>
              </a:spcAft>
              <a:defRPr sz="2300" b="0">
                <a:solidFill>
                  <a:srgbClr val="C8DED0"/>
                </a:solidFill>
                <a:latin typeface="Aptos"/>
              </a:defRPr>
            </a:pPr>
            <a:r>
              <a:t>Phone-first guidance after a suspected payment-diversion scam.</a:t>
            </a:r>
          </a:p>
        </p:txBody>
      </p:sp>
      <p:sp>
        <p:nvSpPr>
          <p:cNvPr id="11" name="Rounded Rectangle 10"/>
          <p:cNvSpPr/>
          <p:nvPr/>
        </p:nvSpPr>
        <p:spPr>
          <a:xfrm>
            <a:off x="758952" y="4005072"/>
            <a:ext cx="3337560" cy="1417320"/>
          </a:xfrm>
          <a:prstGeom prst="roundRect">
            <a:avLst>
              <a:gd name="adj" fmla="val 12000"/>
            </a:avLst>
          </a:prstGeom>
          <a:solidFill>
            <a:srgbClr val="F7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4206240"/>
            <a:ext cx="2926080" cy="411480"/>
          </a:xfrm>
          <a:prstGeom prst="rect">
            <a:avLst/>
          </a:prstGeom>
          <a:noFill/>
        </p:spPr>
        <p:txBody>
          <a:bodyPr wrap="square" lIns="0" rIns="0" tIns="0" bIns="0">
            <a:spAutoFit/>
          </a:bodyPr>
          <a:lstStyle/>
          <a:p>
            <a:pPr>
              <a:lnSpc>
                <a:spcPct val="110000"/>
              </a:lnSpc>
              <a:spcAft>
                <a:spcPts val="0"/>
              </a:spcAft>
              <a:defRPr sz="2700" b="1">
                <a:solidFill>
                  <a:srgbClr val="123C35"/>
                </a:solidFill>
                <a:latin typeface="Aptos"/>
              </a:defRPr>
            </a:pPr>
            <a:r>
              <a:t>Describe</a:t>
            </a:r>
          </a:p>
        </p:txBody>
      </p:sp>
      <p:sp>
        <p:nvSpPr>
          <p:cNvPr id="13" name="TextBox 12"/>
          <p:cNvSpPr txBox="1"/>
          <p:nvPr/>
        </p:nvSpPr>
        <p:spPr>
          <a:xfrm>
            <a:off x="969264" y="4727448"/>
            <a:ext cx="2880360" cy="502920"/>
          </a:xfrm>
          <a:prstGeom prst="rect">
            <a:avLst/>
          </a:prstGeom>
          <a:noFill/>
        </p:spPr>
        <p:txBody>
          <a:bodyPr wrap="square" lIns="0" rIns="0" tIns="0" bIns="0">
            <a:spAutoFit/>
          </a:bodyPr>
          <a:lstStyle/>
          <a:p>
            <a:pPr>
              <a:lnSpc>
                <a:spcPct val="110000"/>
              </a:lnSpc>
              <a:spcAft>
                <a:spcPts val="0"/>
              </a:spcAft>
              <a:defRPr sz="1600" b="0">
                <a:solidFill>
                  <a:srgbClr val="50645D"/>
                </a:solidFill>
                <a:latin typeface="Aptos"/>
              </a:defRPr>
            </a:pPr>
            <a:r>
              <a:t>Your own words</a:t>
            </a:r>
          </a:p>
        </p:txBody>
      </p:sp>
      <p:sp>
        <p:nvSpPr>
          <p:cNvPr id="14" name="Rounded Rectangle 13"/>
          <p:cNvSpPr/>
          <p:nvPr/>
        </p:nvSpPr>
        <p:spPr>
          <a:xfrm>
            <a:off x="4416552" y="4005072"/>
            <a:ext cx="3337560" cy="1417320"/>
          </a:xfrm>
          <a:prstGeom prst="roundRect">
            <a:avLst>
              <a:gd name="adj" fmla="val 12000"/>
            </a:avLst>
          </a:prstGeom>
          <a:solidFill>
            <a:srgbClr val="F7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26864" y="4206240"/>
            <a:ext cx="2926080" cy="411480"/>
          </a:xfrm>
          <a:prstGeom prst="rect">
            <a:avLst/>
          </a:prstGeom>
          <a:noFill/>
        </p:spPr>
        <p:txBody>
          <a:bodyPr wrap="square" lIns="0" rIns="0" tIns="0" bIns="0">
            <a:spAutoFit/>
          </a:bodyPr>
          <a:lstStyle/>
          <a:p>
            <a:pPr>
              <a:lnSpc>
                <a:spcPct val="110000"/>
              </a:lnSpc>
              <a:spcAft>
                <a:spcPts val="0"/>
              </a:spcAft>
              <a:defRPr sz="2700" b="1">
                <a:solidFill>
                  <a:srgbClr val="123C35"/>
                </a:solidFill>
                <a:latin typeface="Aptos"/>
              </a:defRPr>
            </a:pPr>
            <a:r>
              <a:t>Act</a:t>
            </a:r>
          </a:p>
        </p:txBody>
      </p:sp>
      <p:sp>
        <p:nvSpPr>
          <p:cNvPr id="16" name="TextBox 15"/>
          <p:cNvSpPr txBox="1"/>
          <p:nvPr/>
        </p:nvSpPr>
        <p:spPr>
          <a:xfrm>
            <a:off x="4626864" y="4727448"/>
            <a:ext cx="2880360" cy="502920"/>
          </a:xfrm>
          <a:prstGeom prst="rect">
            <a:avLst/>
          </a:prstGeom>
          <a:noFill/>
        </p:spPr>
        <p:txBody>
          <a:bodyPr wrap="square" lIns="0" rIns="0" tIns="0" bIns="0">
            <a:spAutoFit/>
          </a:bodyPr>
          <a:lstStyle/>
          <a:p>
            <a:pPr>
              <a:lnSpc>
                <a:spcPct val="110000"/>
              </a:lnSpc>
              <a:spcAft>
                <a:spcPts val="0"/>
              </a:spcAft>
              <a:defRPr sz="1600" b="0">
                <a:solidFill>
                  <a:srgbClr val="50645D"/>
                </a:solidFill>
                <a:latin typeface="Aptos"/>
              </a:defRPr>
            </a:pPr>
            <a:r>
              <a:t>Bank action available immediately</a:t>
            </a:r>
          </a:p>
        </p:txBody>
      </p:sp>
      <p:sp>
        <p:nvSpPr>
          <p:cNvPr id="17" name="Rounded Rectangle 16"/>
          <p:cNvSpPr/>
          <p:nvPr/>
        </p:nvSpPr>
        <p:spPr>
          <a:xfrm>
            <a:off x="8074152" y="4005072"/>
            <a:ext cx="3337560" cy="1417320"/>
          </a:xfrm>
          <a:prstGeom prst="roundRect">
            <a:avLst>
              <a:gd name="adj" fmla="val 12000"/>
            </a:avLst>
          </a:prstGeom>
          <a:solidFill>
            <a:srgbClr val="F7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84464" y="4206240"/>
            <a:ext cx="2926080" cy="411480"/>
          </a:xfrm>
          <a:prstGeom prst="rect">
            <a:avLst/>
          </a:prstGeom>
          <a:noFill/>
        </p:spPr>
        <p:txBody>
          <a:bodyPr wrap="square" lIns="0" rIns="0" tIns="0" bIns="0">
            <a:spAutoFit/>
          </a:bodyPr>
          <a:lstStyle/>
          <a:p>
            <a:pPr>
              <a:lnSpc>
                <a:spcPct val="110000"/>
              </a:lnSpc>
              <a:spcAft>
                <a:spcPts val="0"/>
              </a:spcAft>
              <a:defRPr sz="2700" b="1">
                <a:solidFill>
                  <a:srgbClr val="123C35"/>
                </a:solidFill>
                <a:latin typeface="Aptos"/>
              </a:defRPr>
            </a:pPr>
            <a:r>
              <a:t>Record</a:t>
            </a:r>
          </a:p>
        </p:txBody>
      </p:sp>
      <p:sp>
        <p:nvSpPr>
          <p:cNvPr id="19" name="TextBox 18"/>
          <p:cNvSpPr txBox="1"/>
          <p:nvPr/>
        </p:nvSpPr>
        <p:spPr>
          <a:xfrm>
            <a:off x="8284464" y="4727448"/>
            <a:ext cx="2880360" cy="502920"/>
          </a:xfrm>
          <a:prstGeom prst="rect">
            <a:avLst/>
          </a:prstGeom>
          <a:noFill/>
        </p:spPr>
        <p:txBody>
          <a:bodyPr wrap="square" lIns="0" rIns="0" tIns="0" bIns="0">
            <a:spAutoFit/>
          </a:bodyPr>
          <a:lstStyle/>
          <a:p>
            <a:pPr>
              <a:lnSpc>
                <a:spcPct val="110000"/>
              </a:lnSpc>
              <a:spcAft>
                <a:spcPts val="0"/>
              </a:spcAft>
              <a:defRPr sz="1600" b="0">
                <a:solidFill>
                  <a:srgbClr val="50645D"/>
                </a:solidFill>
                <a:latin typeface="Aptos"/>
              </a:defRPr>
            </a:pPr>
            <a:r>
              <a:t>Timeline + local file fingerprints</a:t>
            </a:r>
          </a:p>
        </p:txBody>
      </p:sp>
      <p:sp>
        <p:nvSpPr>
          <p:cNvPr id="20" name="TextBox 19"/>
          <p:cNvSpPr txBox="1"/>
          <p:nvPr/>
        </p:nvSpPr>
        <p:spPr>
          <a:xfrm>
            <a:off x="758952" y="5760720"/>
            <a:ext cx="10058400" cy="320040"/>
          </a:xfrm>
          <a:prstGeom prst="rect">
            <a:avLst/>
          </a:prstGeom>
          <a:noFill/>
        </p:spPr>
        <p:txBody>
          <a:bodyPr wrap="square" lIns="0" rIns="0" tIns="0" bIns="0">
            <a:spAutoFit/>
          </a:bodyPr>
          <a:lstStyle/>
          <a:p>
            <a:pPr>
              <a:lnSpc>
                <a:spcPct val="110000"/>
              </a:lnSpc>
              <a:spcAft>
                <a:spcPts val="0"/>
              </a:spcAft>
              <a:defRPr sz="1800" b="0">
                <a:solidFill>
                  <a:srgbClr val="F7F4EC"/>
                </a:solidFill>
                <a:latin typeface="Aptos"/>
              </a:defRPr>
            </a:pPr>
            <a:r>
              <a:t>No installation. No account. No password or OTP request.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3C35"/>
        </a:solidFill>
        <a:effectLst/>
      </p:bgPr>
    </p:bg>
    <p:spTree>
      <p:nvGrpSpPr>
        <p:cNvPr id="1" name=""/>
        <p:cNvGrpSpPr/>
        <p:nvPr/>
      </p:nvGrpSpPr>
      <p:grpSpPr/>
      <p:sp>
        <p:nvSpPr>
          <p:cNvPr id="2" name="Rectangle 1"/>
          <p:cNvSpPr/>
          <p:nvPr/>
        </p:nvSpPr>
        <p:spPr>
          <a:xfrm>
            <a:off x="502920" y="402336"/>
            <a:ext cx="91440" cy="210312"/>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56616"/>
            <a:ext cx="2743200" cy="320040"/>
          </a:xfrm>
          <a:prstGeom prst="rect">
            <a:avLst/>
          </a:prstGeom>
          <a:noFill/>
        </p:spPr>
        <p:txBody>
          <a:bodyPr wrap="square" lIns="0" rIns="0" tIns="0" bIns="0">
            <a:spAutoFit/>
          </a:bodyPr>
          <a:lstStyle/>
          <a:p>
            <a:pPr>
              <a:lnSpc>
                <a:spcPct val="110000"/>
              </a:lnSpc>
              <a:spcAft>
                <a:spcPts val="0"/>
              </a:spcAft>
              <a:defRPr sz="1900" b="1">
                <a:solidFill>
                  <a:srgbClr val="F7F4EC"/>
                </a:solidFill>
                <a:latin typeface="Aptos"/>
              </a:defRPr>
            </a:pPr>
            <a:r>
              <a:t>Mgadi</a:t>
            </a:r>
          </a:p>
        </p:txBody>
      </p:sp>
      <p:sp>
        <p:nvSpPr>
          <p:cNvPr id="4" name="TextBox 3"/>
          <p:cNvSpPr txBox="1"/>
          <p:nvPr/>
        </p:nvSpPr>
        <p:spPr>
          <a:xfrm>
            <a:off x="6583680" y="393192"/>
            <a:ext cx="5074920" cy="274320"/>
          </a:xfrm>
          <a:prstGeom prst="rect">
            <a:avLst/>
          </a:prstGeom>
          <a:noFill/>
        </p:spPr>
        <p:txBody>
          <a:bodyPr wrap="square" lIns="0" rIns="0" tIns="0" bIns="0">
            <a:spAutoFit/>
          </a:bodyPr>
          <a:lstStyle/>
          <a:p>
            <a:pPr>
              <a:lnSpc>
                <a:spcPct val="110000"/>
              </a:lnSpc>
              <a:spcAft>
                <a:spcPts val="0"/>
              </a:spcAft>
              <a:defRPr sz="1000" b="0">
                <a:solidFill>
                  <a:srgbClr val="C8DED0"/>
                </a:solidFill>
                <a:latin typeface="Aptos"/>
              </a:defRPr>
            </a:pPr>
            <a:r>
              <a:t>HACKSECURE 2026  /  TRACK 3  /  soloDolo</a:t>
            </a:r>
          </a:p>
        </p:txBody>
      </p:sp>
      <p:sp>
        <p:nvSpPr>
          <p:cNvPr id="5" name="TextBox 4"/>
          <p:cNvSpPr txBox="1"/>
          <p:nvPr/>
        </p:nvSpPr>
        <p:spPr>
          <a:xfrm>
            <a:off x="731520" y="932688"/>
            <a:ext cx="10058400" cy="274320"/>
          </a:xfrm>
          <a:prstGeom prst="rect">
            <a:avLst/>
          </a:prstGeom>
          <a:noFill/>
        </p:spPr>
        <p:txBody>
          <a:bodyPr wrap="square" lIns="0" rIns="0" tIns="0" bIns="0">
            <a:spAutoFit/>
          </a:bodyPr>
          <a:lstStyle/>
          <a:p>
            <a:pPr>
              <a:lnSpc>
                <a:spcPct val="110000"/>
              </a:lnSpc>
              <a:spcAft>
                <a:spcPts val="0"/>
              </a:spcAft>
              <a:defRPr sz="1100" b="1">
                <a:solidFill>
                  <a:srgbClr val="E9B44C"/>
                </a:solidFill>
                <a:latin typeface="Aptos"/>
              </a:defRPr>
            </a:pPr>
            <a:r>
              <a:t>05 / LIVE PROOF</a:t>
            </a:r>
          </a:p>
        </p:txBody>
      </p:sp>
      <p:sp>
        <p:nvSpPr>
          <p:cNvPr id="6" name="Rectangle 5"/>
          <p:cNvSpPr/>
          <p:nvPr/>
        </p:nvSpPr>
        <p:spPr>
          <a:xfrm>
            <a:off x="731520" y="6391656"/>
            <a:ext cx="10725912" cy="10972"/>
          </a:xfrm>
          <a:prstGeom prst="rect">
            <a:avLst/>
          </a:prstGeom>
          <a:solidFill>
            <a:srgbClr val="5064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9144000" cy="182880"/>
          </a:xfrm>
          <a:prstGeom prst="rect">
            <a:avLst/>
          </a:prstGeom>
          <a:noFill/>
        </p:spPr>
        <p:txBody>
          <a:bodyPr wrap="square" lIns="0" rIns="0" tIns="0" bIns="0">
            <a:spAutoFit/>
          </a:bodyPr>
          <a:lstStyle/>
          <a:p>
            <a:pPr>
              <a:lnSpc>
                <a:spcPct val="110000"/>
              </a:lnSpc>
              <a:spcAft>
                <a:spcPts val="0"/>
              </a:spcAft>
              <a:defRPr sz="900" b="0">
                <a:solidFill>
                  <a:srgbClr val="C8DED0"/>
                </a:solidFill>
                <a:latin typeface="Aptos"/>
              </a:defRPr>
            </a:pPr>
            <a:r>
              <a:t>FIRST-HOUR SCAM RESPONSE  ·  SOUTH AFRICAN SMALL BUSINESSES</a:t>
            </a:r>
          </a:p>
        </p:txBody>
      </p:sp>
      <p:sp>
        <p:nvSpPr>
          <p:cNvPr id="8" name="TextBox 7"/>
          <p:cNvSpPr txBox="1"/>
          <p:nvPr/>
        </p:nvSpPr>
        <p:spPr>
          <a:xfrm>
            <a:off x="10972800" y="6492240"/>
            <a:ext cx="457200" cy="182880"/>
          </a:xfrm>
          <a:prstGeom prst="rect">
            <a:avLst/>
          </a:prstGeom>
          <a:noFill/>
        </p:spPr>
        <p:txBody>
          <a:bodyPr wrap="square" lIns="0" rIns="0" tIns="0" bIns="0">
            <a:spAutoFit/>
          </a:bodyPr>
          <a:lstStyle/>
          <a:p>
            <a:pPr>
              <a:lnSpc>
                <a:spcPct val="110000"/>
              </a:lnSpc>
              <a:spcAft>
                <a:spcPts val="0"/>
              </a:spcAft>
              <a:defRPr sz="1000" b="0">
                <a:solidFill>
                  <a:srgbClr val="F7F4EC"/>
                </a:solidFill>
                <a:latin typeface="Aptos"/>
              </a:defRPr>
            </a:pPr>
            <a:r>
              <a:t>05</a:t>
            </a:r>
          </a:p>
        </p:txBody>
      </p:sp>
      <p:sp>
        <p:nvSpPr>
          <p:cNvPr id="9" name="TextBox 8"/>
          <p:cNvSpPr txBox="1"/>
          <p:nvPr/>
        </p:nvSpPr>
        <p:spPr>
          <a:xfrm>
            <a:off x="731520" y="1389888"/>
            <a:ext cx="10698480" cy="1554480"/>
          </a:xfrm>
          <a:prstGeom prst="rect">
            <a:avLst/>
          </a:prstGeom>
          <a:noFill/>
        </p:spPr>
        <p:txBody>
          <a:bodyPr wrap="square" lIns="0" rIns="0" tIns="0" bIns="0">
            <a:spAutoFit/>
          </a:bodyPr>
          <a:lstStyle/>
          <a:p>
            <a:pPr>
              <a:lnSpc>
                <a:spcPct val="110000"/>
              </a:lnSpc>
              <a:spcAft>
                <a:spcPts val="0"/>
              </a:spcAft>
              <a:defRPr sz="4200" b="1">
                <a:solidFill>
                  <a:srgbClr val="F7F4EC"/>
                </a:solidFill>
                <a:latin typeface="Aptos"/>
              </a:defRPr>
            </a:pPr>
            <a:r>
              <a:t>Watch the scam try</a:t>
            </a:r>
          </a:p>
          <a:p>
            <a:pPr>
              <a:lnSpc>
                <a:spcPct val="110000"/>
              </a:lnSpc>
              <a:spcAft>
                <a:spcPts val="0"/>
              </a:spcAft>
              <a:defRPr sz="4200" b="1">
                <a:solidFill>
                  <a:srgbClr val="F7F4EC"/>
                </a:solidFill>
                <a:latin typeface="Aptos"/>
              </a:defRPr>
            </a:pPr>
            <a:r>
              <a:t>to give instructions.</a:t>
            </a:r>
          </a:p>
        </p:txBody>
      </p:sp>
      <p:sp>
        <p:nvSpPr>
          <p:cNvPr id="10" name="Rounded Rectangle 9"/>
          <p:cNvSpPr/>
          <p:nvPr/>
        </p:nvSpPr>
        <p:spPr>
          <a:xfrm>
            <a:off x="758952" y="3246120"/>
            <a:ext cx="3337560" cy="1755648"/>
          </a:xfrm>
          <a:prstGeom prst="roundRect">
            <a:avLst>
              <a:gd name="adj" fmla="val 12000"/>
            </a:avLst>
          </a:prstGeom>
          <a:solidFill>
            <a:srgbClr val="F7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7" y="3447288"/>
            <a:ext cx="457200" cy="548640"/>
          </a:xfrm>
          <a:prstGeom prst="rect">
            <a:avLst/>
          </a:prstGeom>
          <a:noFill/>
        </p:spPr>
        <p:txBody>
          <a:bodyPr wrap="square" lIns="0" rIns="0" tIns="0" bIns="0">
            <a:spAutoFit/>
          </a:bodyPr>
          <a:lstStyle/>
          <a:p>
            <a:pPr>
              <a:lnSpc>
                <a:spcPct val="110000"/>
              </a:lnSpc>
              <a:spcAft>
                <a:spcPts val="0"/>
              </a:spcAft>
              <a:defRPr sz="2900" b="1">
                <a:solidFill>
                  <a:srgbClr val="123C35"/>
                </a:solidFill>
                <a:latin typeface="Aptos"/>
              </a:defRPr>
            </a:pPr>
            <a:r>
              <a:t>1</a:t>
            </a:r>
          </a:p>
        </p:txBody>
      </p:sp>
      <p:sp>
        <p:nvSpPr>
          <p:cNvPr id="12" name="TextBox 11"/>
          <p:cNvSpPr txBox="1"/>
          <p:nvPr/>
        </p:nvSpPr>
        <p:spPr>
          <a:xfrm>
            <a:off x="1581912" y="3520440"/>
            <a:ext cx="2194560" cy="320040"/>
          </a:xfrm>
          <a:prstGeom prst="rect">
            <a:avLst/>
          </a:prstGeom>
          <a:noFill/>
        </p:spPr>
        <p:txBody>
          <a:bodyPr wrap="square" lIns="0" rIns="0" tIns="0" bIns="0">
            <a:spAutoFit/>
          </a:bodyPr>
          <a:lstStyle/>
          <a:p>
            <a:pPr>
              <a:lnSpc>
                <a:spcPct val="110000"/>
              </a:lnSpc>
              <a:spcAft>
                <a:spcPts val="0"/>
              </a:spcAft>
              <a:defRPr sz="1500" b="1">
                <a:solidFill>
                  <a:srgbClr val="123C35"/>
                </a:solidFill>
                <a:latin typeface="Aptos"/>
              </a:defRPr>
            </a:pPr>
            <a:r>
              <a:t>MASK</a:t>
            </a:r>
          </a:p>
        </p:txBody>
      </p:sp>
      <p:sp>
        <p:nvSpPr>
          <p:cNvPr id="13" name="TextBox 12"/>
          <p:cNvSpPr txBox="1"/>
          <p:nvPr/>
        </p:nvSpPr>
        <p:spPr>
          <a:xfrm>
            <a:off x="978407" y="4133087"/>
            <a:ext cx="2834640" cy="640080"/>
          </a:xfrm>
          <a:prstGeom prst="rect">
            <a:avLst/>
          </a:prstGeom>
          <a:noFill/>
        </p:spPr>
        <p:txBody>
          <a:bodyPr wrap="square" lIns="0" rIns="0" tIns="0" bIns="0">
            <a:spAutoFit/>
          </a:bodyPr>
          <a:lstStyle/>
          <a:p>
            <a:pPr>
              <a:lnSpc>
                <a:spcPct val="110000"/>
              </a:lnSpc>
              <a:spcAft>
                <a:spcPts val="0"/>
              </a:spcAft>
              <a:defRPr sz="2000" b="0">
                <a:solidFill>
                  <a:srgbClr val="162E29"/>
                </a:solidFill>
                <a:latin typeface="Aptos"/>
              </a:defRPr>
            </a:pPr>
            <a:r>
              <a:t>Show what leaves the browser</a:t>
            </a:r>
          </a:p>
        </p:txBody>
      </p:sp>
      <p:sp>
        <p:nvSpPr>
          <p:cNvPr id="14" name="Rounded Rectangle 13"/>
          <p:cNvSpPr/>
          <p:nvPr/>
        </p:nvSpPr>
        <p:spPr>
          <a:xfrm>
            <a:off x="4416552" y="3246120"/>
            <a:ext cx="3337560" cy="1755648"/>
          </a:xfrm>
          <a:prstGeom prst="roundRect">
            <a:avLst>
              <a:gd name="adj" fmla="val 12000"/>
            </a:avLst>
          </a:prstGeom>
          <a:solidFill>
            <a:srgbClr val="F7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36008" y="3447288"/>
            <a:ext cx="457200" cy="548640"/>
          </a:xfrm>
          <a:prstGeom prst="rect">
            <a:avLst/>
          </a:prstGeom>
          <a:noFill/>
        </p:spPr>
        <p:txBody>
          <a:bodyPr wrap="square" lIns="0" rIns="0" tIns="0" bIns="0">
            <a:spAutoFit/>
          </a:bodyPr>
          <a:lstStyle/>
          <a:p>
            <a:pPr>
              <a:lnSpc>
                <a:spcPct val="110000"/>
              </a:lnSpc>
              <a:spcAft>
                <a:spcPts val="0"/>
              </a:spcAft>
              <a:defRPr sz="2900" b="1">
                <a:solidFill>
                  <a:srgbClr val="123C35"/>
                </a:solidFill>
                <a:latin typeface="Aptos"/>
              </a:defRPr>
            </a:pPr>
            <a:r>
              <a:t>2</a:t>
            </a:r>
          </a:p>
        </p:txBody>
      </p:sp>
      <p:sp>
        <p:nvSpPr>
          <p:cNvPr id="16" name="TextBox 15"/>
          <p:cNvSpPr txBox="1"/>
          <p:nvPr/>
        </p:nvSpPr>
        <p:spPr>
          <a:xfrm>
            <a:off x="5239512" y="3520440"/>
            <a:ext cx="2194560" cy="320040"/>
          </a:xfrm>
          <a:prstGeom prst="rect">
            <a:avLst/>
          </a:prstGeom>
          <a:noFill/>
        </p:spPr>
        <p:txBody>
          <a:bodyPr wrap="square" lIns="0" rIns="0" tIns="0" bIns="0">
            <a:spAutoFit/>
          </a:bodyPr>
          <a:lstStyle/>
          <a:p>
            <a:pPr>
              <a:lnSpc>
                <a:spcPct val="110000"/>
              </a:lnSpc>
              <a:spcAft>
                <a:spcPts val="0"/>
              </a:spcAft>
              <a:defRPr sz="1500" b="1">
                <a:solidFill>
                  <a:srgbClr val="123C35"/>
                </a:solidFill>
                <a:latin typeface="Aptos"/>
              </a:defRPr>
            </a:pPr>
            <a:r>
              <a:t>RESIST</a:t>
            </a:r>
          </a:p>
        </p:txBody>
      </p:sp>
      <p:sp>
        <p:nvSpPr>
          <p:cNvPr id="17" name="TextBox 16"/>
          <p:cNvSpPr txBox="1"/>
          <p:nvPr/>
        </p:nvSpPr>
        <p:spPr>
          <a:xfrm>
            <a:off x="4636008" y="4133087"/>
            <a:ext cx="2834640" cy="640080"/>
          </a:xfrm>
          <a:prstGeom prst="rect">
            <a:avLst/>
          </a:prstGeom>
          <a:noFill/>
        </p:spPr>
        <p:txBody>
          <a:bodyPr wrap="square" lIns="0" rIns="0" tIns="0" bIns="0">
            <a:spAutoFit/>
          </a:bodyPr>
          <a:lstStyle/>
          <a:p>
            <a:pPr>
              <a:lnSpc>
                <a:spcPct val="110000"/>
              </a:lnSpc>
              <a:spcAft>
                <a:spcPts val="0"/>
              </a:spcAft>
              <a:defRPr sz="2000" b="0">
                <a:solidFill>
                  <a:srgbClr val="162E29"/>
                </a:solidFill>
                <a:latin typeface="Aptos"/>
              </a:defRPr>
            </a:pPr>
            <a:r>
              <a:t>Fake instructions cannot write actions</a:t>
            </a:r>
          </a:p>
        </p:txBody>
      </p:sp>
      <p:sp>
        <p:nvSpPr>
          <p:cNvPr id="18" name="Rounded Rectangle 17"/>
          <p:cNvSpPr/>
          <p:nvPr/>
        </p:nvSpPr>
        <p:spPr>
          <a:xfrm>
            <a:off x="8074152" y="3246120"/>
            <a:ext cx="3337560" cy="1755648"/>
          </a:xfrm>
          <a:prstGeom prst="roundRect">
            <a:avLst>
              <a:gd name="adj" fmla="val 12000"/>
            </a:avLst>
          </a:prstGeom>
          <a:solidFill>
            <a:srgbClr val="F7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3447288"/>
            <a:ext cx="457200" cy="548640"/>
          </a:xfrm>
          <a:prstGeom prst="rect">
            <a:avLst/>
          </a:prstGeom>
          <a:noFill/>
        </p:spPr>
        <p:txBody>
          <a:bodyPr wrap="square" lIns="0" rIns="0" tIns="0" bIns="0">
            <a:spAutoFit/>
          </a:bodyPr>
          <a:lstStyle/>
          <a:p>
            <a:pPr>
              <a:lnSpc>
                <a:spcPct val="110000"/>
              </a:lnSpc>
              <a:spcAft>
                <a:spcPts val="0"/>
              </a:spcAft>
              <a:defRPr sz="2900" b="1">
                <a:solidFill>
                  <a:srgbClr val="123C35"/>
                </a:solidFill>
                <a:latin typeface="Aptos"/>
              </a:defRPr>
            </a:pPr>
            <a:r>
              <a:t>3</a:t>
            </a:r>
          </a:p>
        </p:txBody>
      </p:sp>
      <p:sp>
        <p:nvSpPr>
          <p:cNvPr id="20" name="TextBox 19"/>
          <p:cNvSpPr txBox="1"/>
          <p:nvPr/>
        </p:nvSpPr>
        <p:spPr>
          <a:xfrm>
            <a:off x="8897112" y="3520440"/>
            <a:ext cx="2194560" cy="320040"/>
          </a:xfrm>
          <a:prstGeom prst="rect">
            <a:avLst/>
          </a:prstGeom>
          <a:noFill/>
        </p:spPr>
        <p:txBody>
          <a:bodyPr wrap="square" lIns="0" rIns="0" tIns="0" bIns="0">
            <a:spAutoFit/>
          </a:bodyPr>
          <a:lstStyle/>
          <a:p>
            <a:pPr>
              <a:lnSpc>
                <a:spcPct val="110000"/>
              </a:lnSpc>
              <a:spcAft>
                <a:spcPts val="0"/>
              </a:spcAft>
              <a:defRPr sz="1500" b="1">
                <a:solidFill>
                  <a:srgbClr val="123C35"/>
                </a:solidFill>
                <a:latin typeface="Aptos"/>
              </a:defRPr>
            </a:pPr>
            <a:r>
              <a:t>CHECK</a:t>
            </a:r>
          </a:p>
        </p:txBody>
      </p:sp>
      <p:sp>
        <p:nvSpPr>
          <p:cNvPr id="21" name="TextBox 20"/>
          <p:cNvSpPr txBox="1"/>
          <p:nvPr/>
        </p:nvSpPr>
        <p:spPr>
          <a:xfrm>
            <a:off x="8293608" y="4133087"/>
            <a:ext cx="2834640" cy="640080"/>
          </a:xfrm>
          <a:prstGeom prst="rect">
            <a:avLst/>
          </a:prstGeom>
          <a:noFill/>
        </p:spPr>
        <p:txBody>
          <a:bodyPr wrap="square" lIns="0" rIns="0" tIns="0" bIns="0">
            <a:spAutoFit/>
          </a:bodyPr>
          <a:lstStyle/>
          <a:p>
            <a:pPr>
              <a:lnSpc>
                <a:spcPct val="110000"/>
              </a:lnSpc>
              <a:spcAft>
                <a:spcPts val="0"/>
              </a:spcAft>
              <a:defRPr sz="2000" b="0">
                <a:solidFill>
                  <a:srgbClr val="162E29"/>
                </a:solidFill>
                <a:latin typeface="Aptos"/>
              </a:defRPr>
            </a:pPr>
            <a:r>
              <a:t>Change a pack value; check fails</a:t>
            </a:r>
          </a:p>
        </p:txBody>
      </p:sp>
      <p:sp>
        <p:nvSpPr>
          <p:cNvPr id="22" name="TextBox 21"/>
          <p:cNvSpPr txBox="1"/>
          <p:nvPr/>
        </p:nvSpPr>
        <p:spPr>
          <a:xfrm>
            <a:off x="758952" y="5486400"/>
            <a:ext cx="10332720" cy="457200"/>
          </a:xfrm>
          <a:prstGeom prst="rect">
            <a:avLst/>
          </a:prstGeom>
          <a:noFill/>
        </p:spPr>
        <p:txBody>
          <a:bodyPr wrap="square" lIns="0" rIns="0" tIns="0" bIns="0">
            <a:spAutoFit/>
          </a:bodyPr>
          <a:lstStyle/>
          <a:p>
            <a:pPr>
              <a:lnSpc>
                <a:spcPct val="110000"/>
              </a:lnSpc>
              <a:spcAft>
                <a:spcPts val="0"/>
              </a:spcAft>
              <a:defRPr sz="1700" b="0">
                <a:solidFill>
                  <a:srgbClr val="C8DED0"/>
                </a:solidFill>
                <a:latin typeface="Aptos"/>
              </a:defRPr>
            </a:pPr>
            <a:r>
              <a:t>LIVE DEMO  ·  Synthetic data  ·  No real calls  ·  State rules or AI mode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502920" y="402336"/>
            <a:ext cx="91440" cy="210312"/>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56616"/>
            <a:ext cx="2743200" cy="320040"/>
          </a:xfrm>
          <a:prstGeom prst="rect">
            <a:avLst/>
          </a:prstGeom>
          <a:noFill/>
        </p:spPr>
        <p:txBody>
          <a:bodyPr wrap="square" lIns="0" rIns="0" tIns="0" bIns="0">
            <a:spAutoFit/>
          </a:bodyPr>
          <a:lstStyle/>
          <a:p>
            <a:pPr>
              <a:lnSpc>
                <a:spcPct val="110000"/>
              </a:lnSpc>
              <a:spcAft>
                <a:spcPts val="0"/>
              </a:spcAft>
              <a:defRPr sz="1900" b="1">
                <a:solidFill>
                  <a:srgbClr val="123C35"/>
                </a:solidFill>
                <a:latin typeface="Aptos"/>
              </a:defRPr>
            </a:pPr>
            <a:r>
              <a:t>Mgadi</a:t>
            </a:r>
          </a:p>
        </p:txBody>
      </p:sp>
      <p:sp>
        <p:nvSpPr>
          <p:cNvPr id="4" name="TextBox 3"/>
          <p:cNvSpPr txBox="1"/>
          <p:nvPr/>
        </p:nvSpPr>
        <p:spPr>
          <a:xfrm>
            <a:off x="6583680" y="393192"/>
            <a:ext cx="5074920" cy="274320"/>
          </a:xfrm>
          <a:prstGeom prst="rect">
            <a:avLst/>
          </a:prstGeom>
          <a:noFill/>
        </p:spPr>
        <p:txBody>
          <a:bodyPr wrap="square" lIns="0" rIns="0" tIns="0" bIns="0">
            <a:spAutoFit/>
          </a:bodyPr>
          <a:lstStyle/>
          <a:p>
            <a:pPr>
              <a:lnSpc>
                <a:spcPct val="110000"/>
              </a:lnSpc>
              <a:spcAft>
                <a:spcPts val="0"/>
              </a:spcAft>
              <a:defRPr sz="1000" b="0">
                <a:solidFill>
                  <a:srgbClr val="50645D"/>
                </a:solidFill>
                <a:latin typeface="Aptos"/>
              </a:defRPr>
            </a:pPr>
            <a:r>
              <a:t>HACKSECURE 2026  /  TRACK 3  /  soloDolo</a:t>
            </a:r>
          </a:p>
        </p:txBody>
      </p:sp>
      <p:sp>
        <p:nvSpPr>
          <p:cNvPr id="5" name="TextBox 4"/>
          <p:cNvSpPr txBox="1"/>
          <p:nvPr/>
        </p:nvSpPr>
        <p:spPr>
          <a:xfrm>
            <a:off x="731520" y="932688"/>
            <a:ext cx="10058400" cy="274320"/>
          </a:xfrm>
          <a:prstGeom prst="rect">
            <a:avLst/>
          </a:prstGeom>
          <a:noFill/>
        </p:spPr>
        <p:txBody>
          <a:bodyPr wrap="square" lIns="0" rIns="0" tIns="0" bIns="0">
            <a:spAutoFit/>
          </a:bodyPr>
          <a:lstStyle/>
          <a:p>
            <a:pPr>
              <a:lnSpc>
                <a:spcPct val="110000"/>
              </a:lnSpc>
              <a:spcAft>
                <a:spcPts val="0"/>
              </a:spcAft>
              <a:defRPr sz="1100" b="1">
                <a:solidFill>
                  <a:srgbClr val="50645D"/>
                </a:solidFill>
                <a:latin typeface="Aptos"/>
              </a:defRPr>
            </a:pPr>
            <a:r>
              <a:t>06 / WHY THIS DESIGN MATTERS</a:t>
            </a:r>
          </a:p>
        </p:txBody>
      </p:sp>
      <p:sp>
        <p:nvSpPr>
          <p:cNvPr id="6" name="Rectangle 5"/>
          <p:cNvSpPr/>
          <p:nvPr/>
        </p:nvSpPr>
        <p:spPr>
          <a:xfrm>
            <a:off x="731520" y="6391656"/>
            <a:ext cx="10725912" cy="10972"/>
          </a:xfrm>
          <a:prstGeom prst="rect">
            <a:avLst/>
          </a:prstGeom>
          <a:solidFill>
            <a:srgbClr val="C5D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9144000" cy="182880"/>
          </a:xfrm>
          <a:prstGeom prst="rect">
            <a:avLst/>
          </a:prstGeom>
          <a:noFill/>
        </p:spPr>
        <p:txBody>
          <a:bodyPr wrap="square" lIns="0" rIns="0" tIns="0" bIns="0">
            <a:spAutoFit/>
          </a:bodyPr>
          <a:lstStyle/>
          <a:p>
            <a:pPr>
              <a:lnSpc>
                <a:spcPct val="110000"/>
              </a:lnSpc>
              <a:spcAft>
                <a:spcPts val="0"/>
              </a:spcAft>
              <a:defRPr sz="900" b="0">
                <a:solidFill>
                  <a:srgbClr val="50645D"/>
                </a:solidFill>
                <a:latin typeface="Aptos"/>
              </a:defRPr>
            </a:pPr>
            <a:r>
              <a:t>FIRST-HOUR SCAM RESPONSE  ·  SOUTH AFRICAN SMALL BUSINESSES</a:t>
            </a:r>
          </a:p>
        </p:txBody>
      </p:sp>
      <p:sp>
        <p:nvSpPr>
          <p:cNvPr id="8" name="TextBox 7"/>
          <p:cNvSpPr txBox="1"/>
          <p:nvPr/>
        </p:nvSpPr>
        <p:spPr>
          <a:xfrm>
            <a:off x="10972800" y="6492240"/>
            <a:ext cx="457200" cy="182880"/>
          </a:xfrm>
          <a:prstGeom prst="rect">
            <a:avLst/>
          </a:prstGeom>
          <a:noFill/>
        </p:spPr>
        <p:txBody>
          <a:bodyPr wrap="square" lIns="0" rIns="0" tIns="0" bIns="0">
            <a:spAutoFit/>
          </a:bodyPr>
          <a:lstStyle/>
          <a:p>
            <a:pPr>
              <a:lnSpc>
                <a:spcPct val="110000"/>
              </a:lnSpc>
              <a:spcAft>
                <a:spcPts val="0"/>
              </a:spcAft>
              <a:defRPr sz="1000" b="0">
                <a:solidFill>
                  <a:srgbClr val="123C35"/>
                </a:solidFill>
                <a:latin typeface="Aptos"/>
              </a:defRPr>
            </a:pPr>
            <a:r>
              <a:t>06</a:t>
            </a:r>
          </a:p>
        </p:txBody>
      </p:sp>
      <p:sp>
        <p:nvSpPr>
          <p:cNvPr id="9" name="TextBox 8"/>
          <p:cNvSpPr txBox="1"/>
          <p:nvPr/>
        </p:nvSpPr>
        <p:spPr>
          <a:xfrm>
            <a:off x="731520" y="1389888"/>
            <a:ext cx="10515600" cy="1463040"/>
          </a:xfrm>
          <a:prstGeom prst="rect">
            <a:avLst/>
          </a:prstGeom>
          <a:noFill/>
        </p:spPr>
        <p:txBody>
          <a:bodyPr wrap="square" lIns="0" rIns="0" tIns="0" bIns="0">
            <a:spAutoFit/>
          </a:bodyPr>
          <a:lstStyle/>
          <a:p>
            <a:pPr>
              <a:lnSpc>
                <a:spcPct val="110000"/>
              </a:lnSpc>
              <a:spcAft>
                <a:spcPts val="0"/>
              </a:spcAft>
              <a:defRPr sz="4100" b="1">
                <a:solidFill>
                  <a:srgbClr val="123C35"/>
                </a:solidFill>
                <a:latin typeface="Aptos"/>
              </a:defRPr>
            </a:pPr>
            <a:r>
              <a:t>The model sorts.</a:t>
            </a:r>
          </a:p>
          <a:p>
            <a:pPr>
              <a:lnSpc>
                <a:spcPct val="110000"/>
              </a:lnSpc>
              <a:spcAft>
                <a:spcPts val="0"/>
              </a:spcAft>
              <a:defRPr sz="4100" b="1">
                <a:solidFill>
                  <a:srgbClr val="123C35"/>
                </a:solidFill>
                <a:latin typeface="Aptos"/>
              </a:defRPr>
            </a:pPr>
            <a:r>
              <a:t>The playbook guides.</a:t>
            </a:r>
          </a:p>
        </p:txBody>
      </p:sp>
      <p:sp>
        <p:nvSpPr>
          <p:cNvPr id="10" name="Rectangle 9"/>
          <p:cNvSpPr/>
          <p:nvPr/>
        </p:nvSpPr>
        <p:spPr>
          <a:xfrm>
            <a:off x="758952" y="3044952"/>
            <a:ext cx="82296" cy="576072"/>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3072384"/>
            <a:ext cx="2834640" cy="365760"/>
          </a:xfrm>
          <a:prstGeom prst="rect">
            <a:avLst/>
          </a:prstGeom>
          <a:noFill/>
        </p:spPr>
        <p:txBody>
          <a:bodyPr wrap="square" lIns="0" rIns="0" tIns="0" bIns="0">
            <a:spAutoFit/>
          </a:bodyPr>
          <a:lstStyle/>
          <a:p>
            <a:pPr>
              <a:lnSpc>
                <a:spcPct val="110000"/>
              </a:lnSpc>
              <a:spcAft>
                <a:spcPts val="0"/>
              </a:spcAft>
              <a:defRPr sz="1400" b="1">
                <a:solidFill>
                  <a:srgbClr val="123C35"/>
                </a:solidFill>
                <a:latin typeface="Aptos"/>
              </a:defRPr>
            </a:pPr>
            <a:r>
              <a:t>MASK FIRST</a:t>
            </a:r>
          </a:p>
        </p:txBody>
      </p:sp>
      <p:sp>
        <p:nvSpPr>
          <p:cNvPr id="12" name="TextBox 11"/>
          <p:cNvSpPr txBox="1"/>
          <p:nvPr/>
        </p:nvSpPr>
        <p:spPr>
          <a:xfrm>
            <a:off x="3840480" y="3044952"/>
            <a:ext cx="7315200" cy="594360"/>
          </a:xfrm>
          <a:prstGeom prst="rect">
            <a:avLst/>
          </a:prstGeom>
          <a:noFill/>
        </p:spPr>
        <p:txBody>
          <a:bodyPr wrap="square" lIns="0" rIns="0" tIns="0" bIns="0">
            <a:spAutoFit/>
          </a:bodyPr>
          <a:lstStyle/>
          <a:p>
            <a:pPr>
              <a:lnSpc>
                <a:spcPct val="110000"/>
              </a:lnSpc>
              <a:spcAft>
                <a:spcPts val="0"/>
              </a:spcAft>
              <a:defRPr sz="2100" b="0">
                <a:solidFill>
                  <a:srgbClr val="162E29"/>
                </a:solidFill>
                <a:latin typeface="Aptos"/>
              </a:defRPr>
            </a:pPr>
            <a:r>
              <a:t>Supported patterns + names supplied by owner</a:t>
            </a:r>
          </a:p>
        </p:txBody>
      </p:sp>
      <p:sp>
        <p:nvSpPr>
          <p:cNvPr id="13" name="Rectangle 12"/>
          <p:cNvSpPr/>
          <p:nvPr/>
        </p:nvSpPr>
        <p:spPr>
          <a:xfrm>
            <a:off x="758952" y="3904487"/>
            <a:ext cx="82296" cy="576072"/>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3931920"/>
            <a:ext cx="2834640" cy="365760"/>
          </a:xfrm>
          <a:prstGeom prst="rect">
            <a:avLst/>
          </a:prstGeom>
          <a:noFill/>
        </p:spPr>
        <p:txBody>
          <a:bodyPr wrap="square" lIns="0" rIns="0" tIns="0" bIns="0">
            <a:spAutoFit/>
          </a:bodyPr>
          <a:lstStyle/>
          <a:p>
            <a:pPr>
              <a:lnSpc>
                <a:spcPct val="110000"/>
              </a:lnSpc>
              <a:spcAft>
                <a:spcPts val="0"/>
              </a:spcAft>
              <a:defRPr sz="1400" b="1">
                <a:solidFill>
                  <a:srgbClr val="123C35"/>
                </a:solidFill>
                <a:latin typeface="Aptos"/>
              </a:defRPr>
            </a:pPr>
            <a:r>
              <a:t>RESTRICT OUTPUT</a:t>
            </a:r>
          </a:p>
        </p:txBody>
      </p:sp>
      <p:sp>
        <p:nvSpPr>
          <p:cNvPr id="15" name="TextBox 14"/>
          <p:cNvSpPr txBox="1"/>
          <p:nvPr/>
        </p:nvSpPr>
        <p:spPr>
          <a:xfrm>
            <a:off x="3840480" y="3904487"/>
            <a:ext cx="7315200" cy="594360"/>
          </a:xfrm>
          <a:prstGeom prst="rect">
            <a:avLst/>
          </a:prstGeom>
          <a:noFill/>
        </p:spPr>
        <p:txBody>
          <a:bodyPr wrap="square" lIns="0" rIns="0" tIns="0" bIns="0">
            <a:spAutoFit/>
          </a:bodyPr>
          <a:lstStyle/>
          <a:p>
            <a:pPr>
              <a:lnSpc>
                <a:spcPct val="110000"/>
              </a:lnSpc>
              <a:spcAft>
                <a:spcPts val="0"/>
              </a:spcAft>
              <a:defRPr sz="2100" b="0">
                <a:solidFill>
                  <a:srgbClr val="162E29"/>
                </a:solidFill>
                <a:latin typeface="Aptos"/>
              </a:defRPr>
            </a:pPr>
            <a:r>
              <a:t>One label + confidence; reject other fields</a:t>
            </a:r>
          </a:p>
        </p:txBody>
      </p:sp>
      <p:sp>
        <p:nvSpPr>
          <p:cNvPr id="16" name="Rectangle 15"/>
          <p:cNvSpPr/>
          <p:nvPr/>
        </p:nvSpPr>
        <p:spPr>
          <a:xfrm>
            <a:off x="758952" y="4764024"/>
            <a:ext cx="82296" cy="576072"/>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4791456"/>
            <a:ext cx="2834640" cy="365760"/>
          </a:xfrm>
          <a:prstGeom prst="rect">
            <a:avLst/>
          </a:prstGeom>
          <a:noFill/>
        </p:spPr>
        <p:txBody>
          <a:bodyPr wrap="square" lIns="0" rIns="0" tIns="0" bIns="0">
            <a:spAutoFit/>
          </a:bodyPr>
          <a:lstStyle/>
          <a:p>
            <a:pPr>
              <a:lnSpc>
                <a:spcPct val="110000"/>
              </a:lnSpc>
              <a:spcAft>
                <a:spcPts val="0"/>
              </a:spcAft>
              <a:defRPr sz="1400" b="1">
                <a:solidFill>
                  <a:srgbClr val="123C35"/>
                </a:solidFill>
                <a:latin typeface="Aptos"/>
              </a:defRPr>
            </a:pPr>
            <a:r>
              <a:t>KEEP CONTROL</a:t>
            </a:r>
          </a:p>
        </p:txBody>
      </p:sp>
      <p:sp>
        <p:nvSpPr>
          <p:cNvPr id="18" name="TextBox 17"/>
          <p:cNvSpPr txBox="1"/>
          <p:nvPr/>
        </p:nvSpPr>
        <p:spPr>
          <a:xfrm>
            <a:off x="3840480" y="4764024"/>
            <a:ext cx="7315200" cy="594360"/>
          </a:xfrm>
          <a:prstGeom prst="rect">
            <a:avLst/>
          </a:prstGeom>
          <a:noFill/>
        </p:spPr>
        <p:txBody>
          <a:bodyPr wrap="square" lIns="0" rIns="0" tIns="0" bIns="0">
            <a:spAutoFit/>
          </a:bodyPr>
          <a:lstStyle/>
          <a:p>
            <a:pPr>
              <a:lnSpc>
                <a:spcPct val="110000"/>
              </a:lnSpc>
              <a:spcAft>
                <a:spcPts val="0"/>
              </a:spcAft>
              <a:defRPr sz="2100" b="0">
                <a:solidFill>
                  <a:srgbClr val="162E29"/>
                </a:solidFill>
                <a:latin typeface="Aptos"/>
              </a:defRPr>
            </a:pPr>
            <a:r>
              <a:t>Local actions and contact directory; rules fallback</a:t>
            </a:r>
          </a:p>
        </p:txBody>
      </p:sp>
      <p:sp>
        <p:nvSpPr>
          <p:cNvPr id="19" name="TextBox 18"/>
          <p:cNvSpPr txBox="1"/>
          <p:nvPr/>
        </p:nvSpPr>
        <p:spPr>
          <a:xfrm>
            <a:off x="758952" y="5760720"/>
            <a:ext cx="10515600" cy="320040"/>
          </a:xfrm>
          <a:prstGeom prst="rect">
            <a:avLst/>
          </a:prstGeom>
          <a:noFill/>
        </p:spPr>
        <p:txBody>
          <a:bodyPr wrap="square" lIns="0" rIns="0" tIns="0" bIns="0">
            <a:spAutoFit/>
          </a:bodyPr>
          <a:lstStyle/>
          <a:p>
            <a:pPr>
              <a:lnSpc>
                <a:spcPct val="110000"/>
              </a:lnSpc>
              <a:spcAft>
                <a:spcPts val="0"/>
              </a:spcAft>
              <a:defRPr sz="1300" b="0">
                <a:solidFill>
                  <a:srgbClr val="50645D"/>
                </a:solidFill>
                <a:latin typeface="Aptos"/>
              </a:defRPr>
            </a:pPr>
            <a:r>
              <a:t>Draft playbook: practitioner review pending. Redaction is not guaranteed anonymisation.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502920" y="402336"/>
            <a:ext cx="91440" cy="210312"/>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56616"/>
            <a:ext cx="2743200" cy="320040"/>
          </a:xfrm>
          <a:prstGeom prst="rect">
            <a:avLst/>
          </a:prstGeom>
          <a:noFill/>
        </p:spPr>
        <p:txBody>
          <a:bodyPr wrap="square" lIns="0" rIns="0" tIns="0" bIns="0">
            <a:spAutoFit/>
          </a:bodyPr>
          <a:lstStyle/>
          <a:p>
            <a:pPr>
              <a:lnSpc>
                <a:spcPct val="110000"/>
              </a:lnSpc>
              <a:spcAft>
                <a:spcPts val="0"/>
              </a:spcAft>
              <a:defRPr sz="1900" b="1">
                <a:solidFill>
                  <a:srgbClr val="123C35"/>
                </a:solidFill>
                <a:latin typeface="Aptos"/>
              </a:defRPr>
            </a:pPr>
            <a:r>
              <a:t>Mgadi</a:t>
            </a:r>
          </a:p>
        </p:txBody>
      </p:sp>
      <p:sp>
        <p:nvSpPr>
          <p:cNvPr id="4" name="TextBox 3"/>
          <p:cNvSpPr txBox="1"/>
          <p:nvPr/>
        </p:nvSpPr>
        <p:spPr>
          <a:xfrm>
            <a:off x="6583680" y="393192"/>
            <a:ext cx="5074920" cy="274320"/>
          </a:xfrm>
          <a:prstGeom prst="rect">
            <a:avLst/>
          </a:prstGeom>
          <a:noFill/>
        </p:spPr>
        <p:txBody>
          <a:bodyPr wrap="square" lIns="0" rIns="0" tIns="0" bIns="0">
            <a:spAutoFit/>
          </a:bodyPr>
          <a:lstStyle/>
          <a:p>
            <a:pPr>
              <a:lnSpc>
                <a:spcPct val="110000"/>
              </a:lnSpc>
              <a:spcAft>
                <a:spcPts val="0"/>
              </a:spcAft>
              <a:defRPr sz="1000" b="0">
                <a:solidFill>
                  <a:srgbClr val="50645D"/>
                </a:solidFill>
                <a:latin typeface="Aptos"/>
              </a:defRPr>
            </a:pPr>
            <a:r>
              <a:t>HACKSECURE 2026  /  TRACK 3  /  soloDolo</a:t>
            </a:r>
          </a:p>
        </p:txBody>
      </p:sp>
      <p:sp>
        <p:nvSpPr>
          <p:cNvPr id="5" name="TextBox 4"/>
          <p:cNvSpPr txBox="1"/>
          <p:nvPr/>
        </p:nvSpPr>
        <p:spPr>
          <a:xfrm>
            <a:off x="731520" y="932688"/>
            <a:ext cx="10058400" cy="274320"/>
          </a:xfrm>
          <a:prstGeom prst="rect">
            <a:avLst/>
          </a:prstGeom>
          <a:noFill/>
        </p:spPr>
        <p:txBody>
          <a:bodyPr wrap="square" lIns="0" rIns="0" tIns="0" bIns="0">
            <a:spAutoFit/>
          </a:bodyPr>
          <a:lstStyle/>
          <a:p>
            <a:pPr>
              <a:lnSpc>
                <a:spcPct val="110000"/>
              </a:lnSpc>
              <a:spcAft>
                <a:spcPts val="0"/>
              </a:spcAft>
              <a:defRPr sz="1100" b="1">
                <a:solidFill>
                  <a:srgbClr val="50645D"/>
                </a:solidFill>
                <a:latin typeface="Aptos"/>
              </a:defRPr>
            </a:pPr>
            <a:r>
              <a:t>07 / EVIDENCE, WITH ITS LIMITS</a:t>
            </a:r>
          </a:p>
        </p:txBody>
      </p:sp>
      <p:sp>
        <p:nvSpPr>
          <p:cNvPr id="6" name="Rectangle 5"/>
          <p:cNvSpPr/>
          <p:nvPr/>
        </p:nvSpPr>
        <p:spPr>
          <a:xfrm>
            <a:off x="731520" y="6391656"/>
            <a:ext cx="10725912" cy="10972"/>
          </a:xfrm>
          <a:prstGeom prst="rect">
            <a:avLst/>
          </a:prstGeom>
          <a:solidFill>
            <a:srgbClr val="C5D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9144000" cy="182880"/>
          </a:xfrm>
          <a:prstGeom prst="rect">
            <a:avLst/>
          </a:prstGeom>
          <a:noFill/>
        </p:spPr>
        <p:txBody>
          <a:bodyPr wrap="square" lIns="0" rIns="0" tIns="0" bIns="0">
            <a:spAutoFit/>
          </a:bodyPr>
          <a:lstStyle/>
          <a:p>
            <a:pPr>
              <a:lnSpc>
                <a:spcPct val="110000"/>
              </a:lnSpc>
              <a:spcAft>
                <a:spcPts val="0"/>
              </a:spcAft>
              <a:defRPr sz="900" b="0">
                <a:solidFill>
                  <a:srgbClr val="50645D"/>
                </a:solidFill>
                <a:latin typeface="Aptos"/>
              </a:defRPr>
            </a:pPr>
            <a:r>
              <a:t>FIRST-HOUR SCAM RESPONSE  ·  SOUTH AFRICAN SMALL BUSINESSES</a:t>
            </a:r>
          </a:p>
        </p:txBody>
      </p:sp>
      <p:sp>
        <p:nvSpPr>
          <p:cNvPr id="8" name="TextBox 7"/>
          <p:cNvSpPr txBox="1"/>
          <p:nvPr/>
        </p:nvSpPr>
        <p:spPr>
          <a:xfrm>
            <a:off x="10972800" y="6492240"/>
            <a:ext cx="457200" cy="182880"/>
          </a:xfrm>
          <a:prstGeom prst="rect">
            <a:avLst/>
          </a:prstGeom>
          <a:noFill/>
        </p:spPr>
        <p:txBody>
          <a:bodyPr wrap="square" lIns="0" rIns="0" tIns="0" bIns="0">
            <a:spAutoFit/>
          </a:bodyPr>
          <a:lstStyle/>
          <a:p>
            <a:pPr>
              <a:lnSpc>
                <a:spcPct val="110000"/>
              </a:lnSpc>
              <a:spcAft>
                <a:spcPts val="0"/>
              </a:spcAft>
              <a:defRPr sz="1000" b="0">
                <a:solidFill>
                  <a:srgbClr val="123C35"/>
                </a:solidFill>
                <a:latin typeface="Aptos"/>
              </a:defRPr>
            </a:pPr>
            <a:r>
              <a:t>07</a:t>
            </a:r>
          </a:p>
        </p:txBody>
      </p:sp>
      <p:sp>
        <p:nvSpPr>
          <p:cNvPr id="9" name="TextBox 8"/>
          <p:cNvSpPr txBox="1"/>
          <p:nvPr/>
        </p:nvSpPr>
        <p:spPr>
          <a:xfrm>
            <a:off x="731520" y="1389888"/>
            <a:ext cx="10698480" cy="1005840"/>
          </a:xfrm>
          <a:prstGeom prst="rect">
            <a:avLst/>
          </a:prstGeom>
          <a:noFill/>
        </p:spPr>
        <p:txBody>
          <a:bodyPr wrap="square" lIns="0" rIns="0" tIns="0" bIns="0">
            <a:spAutoFit/>
          </a:bodyPr>
          <a:lstStyle/>
          <a:p>
            <a:pPr>
              <a:lnSpc>
                <a:spcPct val="110000"/>
              </a:lnSpc>
              <a:spcAft>
                <a:spcPts val="0"/>
              </a:spcAft>
              <a:defRPr sz="3900" b="1">
                <a:solidFill>
                  <a:srgbClr val="123C35"/>
                </a:solidFill>
                <a:latin typeface="Aptos"/>
              </a:defRPr>
            </a:pPr>
            <a:r>
              <a:t>Working prototype. Early evidence.</a:t>
            </a:r>
          </a:p>
        </p:txBody>
      </p:sp>
      <p:sp>
        <p:nvSpPr>
          <p:cNvPr id="10" name="Rounded Rectangle 9"/>
          <p:cNvSpPr/>
          <p:nvPr/>
        </p:nvSpPr>
        <p:spPr>
          <a:xfrm>
            <a:off x="758952" y="2743200"/>
            <a:ext cx="3337560" cy="2011680"/>
          </a:xfrm>
          <a:prstGeom prst="roundRect">
            <a:avLst>
              <a:gd name="adj" fmla="val 12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2953512"/>
            <a:ext cx="2834640" cy="841248"/>
          </a:xfrm>
          <a:prstGeom prst="rect">
            <a:avLst/>
          </a:prstGeom>
          <a:noFill/>
        </p:spPr>
        <p:txBody>
          <a:bodyPr wrap="square" lIns="0" rIns="0" tIns="0" bIns="0">
            <a:spAutoFit/>
          </a:bodyPr>
          <a:lstStyle/>
          <a:p>
            <a:pPr>
              <a:lnSpc>
                <a:spcPct val="110000"/>
              </a:lnSpc>
              <a:spcAft>
                <a:spcPts val="0"/>
              </a:spcAft>
              <a:defRPr sz="4800" b="1">
                <a:solidFill>
                  <a:srgbClr val="123C35"/>
                </a:solidFill>
                <a:latin typeface="Aptos"/>
              </a:defRPr>
            </a:pPr>
            <a:r>
              <a:t>7 / 7</a:t>
            </a:r>
          </a:p>
        </p:txBody>
      </p:sp>
      <p:sp>
        <p:nvSpPr>
          <p:cNvPr id="12" name="TextBox 11"/>
          <p:cNvSpPr txBox="1"/>
          <p:nvPr/>
        </p:nvSpPr>
        <p:spPr>
          <a:xfrm>
            <a:off x="987552" y="3840480"/>
            <a:ext cx="2880360" cy="365760"/>
          </a:xfrm>
          <a:prstGeom prst="rect">
            <a:avLst/>
          </a:prstGeom>
          <a:noFill/>
        </p:spPr>
        <p:txBody>
          <a:bodyPr wrap="square" lIns="0" rIns="0" tIns="0" bIns="0">
            <a:spAutoFit/>
          </a:bodyPr>
          <a:lstStyle/>
          <a:p>
            <a:pPr>
              <a:lnSpc>
                <a:spcPct val="110000"/>
              </a:lnSpc>
              <a:spcAft>
                <a:spcPts val="0"/>
              </a:spcAft>
              <a:defRPr sz="1800" b="1">
                <a:solidFill>
                  <a:srgbClr val="162E29"/>
                </a:solidFill>
                <a:latin typeface="Aptos"/>
              </a:defRPr>
            </a:pPr>
            <a:r>
              <a:t>Automated tests pass</a:t>
            </a:r>
          </a:p>
        </p:txBody>
      </p:sp>
      <p:sp>
        <p:nvSpPr>
          <p:cNvPr id="13" name="TextBox 12"/>
          <p:cNvSpPr txBox="1"/>
          <p:nvPr/>
        </p:nvSpPr>
        <p:spPr>
          <a:xfrm>
            <a:off x="987552" y="4352544"/>
            <a:ext cx="2880360" cy="274320"/>
          </a:xfrm>
          <a:prstGeom prst="rect">
            <a:avLst/>
          </a:prstGeom>
          <a:noFill/>
        </p:spPr>
        <p:txBody>
          <a:bodyPr wrap="square" lIns="0" rIns="0" tIns="0" bIns="0">
            <a:spAutoFit/>
          </a:bodyPr>
          <a:lstStyle/>
          <a:p>
            <a:pPr>
              <a:lnSpc>
                <a:spcPct val="110000"/>
              </a:lnSpc>
              <a:spcAft>
                <a:spcPts val="0"/>
              </a:spcAft>
              <a:defRPr sz="1300" b="0">
                <a:solidFill>
                  <a:srgbClr val="50645D"/>
                </a:solidFill>
                <a:latin typeface="Aptos"/>
              </a:defRPr>
            </a:pPr>
            <a:r>
              <a:t>Current entry test suite</a:t>
            </a:r>
          </a:p>
        </p:txBody>
      </p:sp>
      <p:sp>
        <p:nvSpPr>
          <p:cNvPr id="14" name="Rounded Rectangle 13"/>
          <p:cNvSpPr/>
          <p:nvPr/>
        </p:nvSpPr>
        <p:spPr>
          <a:xfrm>
            <a:off x="4416552" y="2743200"/>
            <a:ext cx="3337560" cy="2011680"/>
          </a:xfrm>
          <a:prstGeom prst="roundRect">
            <a:avLst>
              <a:gd name="adj" fmla="val 12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45152" y="2953512"/>
            <a:ext cx="2834640" cy="841248"/>
          </a:xfrm>
          <a:prstGeom prst="rect">
            <a:avLst/>
          </a:prstGeom>
          <a:noFill/>
        </p:spPr>
        <p:txBody>
          <a:bodyPr wrap="square" lIns="0" rIns="0" tIns="0" bIns="0">
            <a:spAutoFit/>
          </a:bodyPr>
          <a:lstStyle/>
          <a:p>
            <a:pPr>
              <a:lnSpc>
                <a:spcPct val="110000"/>
              </a:lnSpc>
              <a:spcAft>
                <a:spcPts val="0"/>
              </a:spcAft>
              <a:defRPr sz="4800" b="1">
                <a:solidFill>
                  <a:srgbClr val="123C35"/>
                </a:solidFill>
                <a:latin typeface="Aptos"/>
              </a:defRPr>
            </a:pPr>
            <a:r>
              <a:t>7 / 7</a:t>
            </a:r>
          </a:p>
        </p:txBody>
      </p:sp>
      <p:sp>
        <p:nvSpPr>
          <p:cNvPr id="16" name="TextBox 15"/>
          <p:cNvSpPr txBox="1"/>
          <p:nvPr/>
        </p:nvSpPr>
        <p:spPr>
          <a:xfrm>
            <a:off x="4645152" y="3840480"/>
            <a:ext cx="2880360" cy="365760"/>
          </a:xfrm>
          <a:prstGeom prst="rect">
            <a:avLst/>
          </a:prstGeom>
          <a:noFill/>
        </p:spPr>
        <p:txBody>
          <a:bodyPr wrap="square" lIns="0" rIns="0" tIns="0" bIns="0">
            <a:spAutoFit/>
          </a:bodyPr>
          <a:lstStyle/>
          <a:p>
            <a:pPr>
              <a:lnSpc>
                <a:spcPct val="110000"/>
              </a:lnSpc>
              <a:spcAft>
                <a:spcPts val="0"/>
              </a:spcAft>
              <a:defRPr sz="1800" b="1">
                <a:solidFill>
                  <a:srgbClr val="162E29"/>
                </a:solidFill>
                <a:latin typeface="Aptos"/>
              </a:defRPr>
            </a:pPr>
            <a:r>
              <a:t>Synthetic rules cases</a:t>
            </a:r>
          </a:p>
        </p:txBody>
      </p:sp>
      <p:sp>
        <p:nvSpPr>
          <p:cNvPr id="17" name="TextBox 16"/>
          <p:cNvSpPr txBox="1"/>
          <p:nvPr/>
        </p:nvSpPr>
        <p:spPr>
          <a:xfrm>
            <a:off x="4645152" y="4352544"/>
            <a:ext cx="2880360" cy="274320"/>
          </a:xfrm>
          <a:prstGeom prst="rect">
            <a:avLst/>
          </a:prstGeom>
          <a:noFill/>
        </p:spPr>
        <p:txBody>
          <a:bodyPr wrap="square" lIns="0" rIns="0" tIns="0" bIns="0">
            <a:spAutoFit/>
          </a:bodyPr>
          <a:lstStyle/>
          <a:p>
            <a:pPr>
              <a:lnSpc>
                <a:spcPct val="110000"/>
              </a:lnSpc>
              <a:spcAft>
                <a:spcPts val="0"/>
              </a:spcAft>
              <a:defRPr sz="1300" b="0">
                <a:solidFill>
                  <a:srgbClr val="50645D"/>
                </a:solidFill>
                <a:latin typeface="Aptos"/>
              </a:defRPr>
            </a:pPr>
            <a:r>
              <a:t>Fixed developer smoke set</a:t>
            </a:r>
          </a:p>
        </p:txBody>
      </p:sp>
      <p:sp>
        <p:nvSpPr>
          <p:cNvPr id="18" name="Rounded Rectangle 17"/>
          <p:cNvSpPr/>
          <p:nvPr/>
        </p:nvSpPr>
        <p:spPr>
          <a:xfrm>
            <a:off x="8074152" y="2743200"/>
            <a:ext cx="3337560" cy="2011680"/>
          </a:xfrm>
          <a:prstGeom prst="roundRect">
            <a:avLst>
              <a:gd name="adj" fmla="val 12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2752" y="2953512"/>
            <a:ext cx="2834640" cy="841248"/>
          </a:xfrm>
          <a:prstGeom prst="rect">
            <a:avLst/>
          </a:prstGeom>
          <a:noFill/>
        </p:spPr>
        <p:txBody>
          <a:bodyPr wrap="square" lIns="0" rIns="0" tIns="0" bIns="0">
            <a:spAutoFit/>
          </a:bodyPr>
          <a:lstStyle/>
          <a:p>
            <a:pPr>
              <a:lnSpc>
                <a:spcPct val="110000"/>
              </a:lnSpc>
              <a:spcAft>
                <a:spcPts val="0"/>
              </a:spcAft>
              <a:defRPr sz="4800" b="1">
                <a:solidFill>
                  <a:srgbClr val="123C35"/>
                </a:solidFill>
                <a:latin typeface="Aptos"/>
              </a:defRPr>
            </a:pPr>
            <a:r>
              <a:t>0 / 2</a:t>
            </a:r>
          </a:p>
        </p:txBody>
      </p:sp>
      <p:sp>
        <p:nvSpPr>
          <p:cNvPr id="20" name="TextBox 19"/>
          <p:cNvSpPr txBox="1"/>
          <p:nvPr/>
        </p:nvSpPr>
        <p:spPr>
          <a:xfrm>
            <a:off x="8302752" y="3840480"/>
            <a:ext cx="2880360" cy="365760"/>
          </a:xfrm>
          <a:prstGeom prst="rect">
            <a:avLst/>
          </a:prstGeom>
          <a:noFill/>
        </p:spPr>
        <p:txBody>
          <a:bodyPr wrap="square" lIns="0" rIns="0" tIns="0" bIns="0">
            <a:spAutoFit/>
          </a:bodyPr>
          <a:lstStyle/>
          <a:p>
            <a:pPr>
              <a:lnSpc>
                <a:spcPct val="110000"/>
              </a:lnSpc>
              <a:spcAft>
                <a:spcPts val="0"/>
              </a:spcAft>
              <a:defRPr sz="1800" b="1">
                <a:solidFill>
                  <a:srgbClr val="162E29"/>
                </a:solidFill>
                <a:latin typeface="Aptos"/>
              </a:defRPr>
            </a:pPr>
            <a:r>
              <a:t>Unsafe diversion misses</a:t>
            </a:r>
          </a:p>
        </p:txBody>
      </p:sp>
      <p:sp>
        <p:nvSpPr>
          <p:cNvPr id="21" name="TextBox 20"/>
          <p:cNvSpPr txBox="1"/>
          <p:nvPr/>
        </p:nvSpPr>
        <p:spPr>
          <a:xfrm>
            <a:off x="8302752" y="4352544"/>
            <a:ext cx="2880360" cy="274320"/>
          </a:xfrm>
          <a:prstGeom prst="rect">
            <a:avLst/>
          </a:prstGeom>
          <a:noFill/>
        </p:spPr>
        <p:txBody>
          <a:bodyPr wrap="square" lIns="0" rIns="0" tIns="0" bIns="0">
            <a:spAutoFit/>
          </a:bodyPr>
          <a:lstStyle/>
          <a:p>
            <a:pPr>
              <a:lnSpc>
                <a:spcPct val="110000"/>
              </a:lnSpc>
              <a:spcAft>
                <a:spcPts val="0"/>
              </a:spcAft>
              <a:defRPr sz="1300" b="0">
                <a:solidFill>
                  <a:srgbClr val="50645D"/>
                </a:solidFill>
                <a:latin typeface="Aptos"/>
              </a:defRPr>
            </a:pPr>
            <a:r>
              <a:t>Two payment-diversion cases</a:t>
            </a:r>
          </a:p>
        </p:txBody>
      </p:sp>
      <p:sp>
        <p:nvSpPr>
          <p:cNvPr id="22" name="TextBox 21"/>
          <p:cNvSpPr txBox="1"/>
          <p:nvPr/>
        </p:nvSpPr>
        <p:spPr>
          <a:xfrm>
            <a:off x="758952" y="5157216"/>
            <a:ext cx="10515600" cy="640080"/>
          </a:xfrm>
          <a:prstGeom prst="rect">
            <a:avLst/>
          </a:prstGeom>
          <a:noFill/>
        </p:spPr>
        <p:txBody>
          <a:bodyPr wrap="square" lIns="0" rIns="0" tIns="0" bIns="0">
            <a:spAutoFit/>
          </a:bodyPr>
          <a:lstStyle/>
          <a:p>
            <a:pPr>
              <a:lnSpc>
                <a:spcPct val="110000"/>
              </a:lnSpc>
              <a:spcAft>
                <a:spcPts val="0"/>
              </a:spcAft>
              <a:defRPr sz="2000" b="0">
                <a:solidFill>
                  <a:srgbClr val="50645D"/>
                </a:solidFill>
                <a:latin typeface="Aptos"/>
              </a:defRPr>
            </a:pPr>
            <a:r>
              <a:t>Next proof: fresh descriptions + timed tests with owners.</a:t>
            </a:r>
          </a:p>
          <a:p>
            <a:pPr>
              <a:lnSpc>
                <a:spcPct val="110000"/>
              </a:lnSpc>
              <a:spcAft>
                <a:spcPts val="0"/>
              </a:spcAft>
              <a:defRPr sz="2000" b="0">
                <a:solidFill>
                  <a:srgbClr val="50645D"/>
                </a:solidFill>
                <a:latin typeface="Aptos"/>
              </a:defRPr>
            </a:pPr>
            <a:r>
              <a:t>Live AI accuracy and real-world impact have not been measured.</a:t>
            </a:r>
          </a:p>
        </p:txBody>
      </p:sp>
      <p:sp>
        <p:nvSpPr>
          <p:cNvPr id="23" name="TextBox 22"/>
          <p:cNvSpPr txBox="1"/>
          <p:nvPr/>
        </p:nvSpPr>
        <p:spPr>
          <a:xfrm>
            <a:off x="758952" y="5952744"/>
            <a:ext cx="10515600" cy="182880"/>
          </a:xfrm>
          <a:prstGeom prst="rect">
            <a:avLst/>
          </a:prstGeom>
          <a:noFill/>
        </p:spPr>
        <p:txBody>
          <a:bodyPr wrap="square" lIns="0" rIns="0" tIns="0" bIns="0">
            <a:spAutoFit/>
          </a:bodyPr>
          <a:lstStyle/>
          <a:p>
            <a:pPr>
              <a:lnSpc>
                <a:spcPct val="110000"/>
              </a:lnSpc>
              <a:spcAft>
                <a:spcPts val="0"/>
              </a:spcAft>
              <a:defRPr sz="1000" b="0">
                <a:solidFill>
                  <a:srgbClr val="50645D"/>
                </a:solidFill>
                <a:latin typeface="Aptos"/>
              </a:defRPr>
            </a:pPr>
            <a:r>
              <a:t>LOCAL VALIDATION · 27 OCT 2026 · npm test / npm run scoreboard · Prototype results, not a general accuracy claim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502920" y="402336"/>
            <a:ext cx="91440" cy="210312"/>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56616"/>
            <a:ext cx="2743200" cy="320040"/>
          </a:xfrm>
          <a:prstGeom prst="rect">
            <a:avLst/>
          </a:prstGeom>
          <a:noFill/>
        </p:spPr>
        <p:txBody>
          <a:bodyPr wrap="square" lIns="0" rIns="0" tIns="0" bIns="0">
            <a:spAutoFit/>
          </a:bodyPr>
          <a:lstStyle/>
          <a:p>
            <a:pPr>
              <a:lnSpc>
                <a:spcPct val="110000"/>
              </a:lnSpc>
              <a:spcAft>
                <a:spcPts val="0"/>
              </a:spcAft>
              <a:defRPr sz="1900" b="1">
                <a:solidFill>
                  <a:srgbClr val="123C35"/>
                </a:solidFill>
                <a:latin typeface="Aptos"/>
              </a:defRPr>
            </a:pPr>
            <a:r>
              <a:t>Mgadi</a:t>
            </a:r>
          </a:p>
        </p:txBody>
      </p:sp>
      <p:sp>
        <p:nvSpPr>
          <p:cNvPr id="4" name="TextBox 3"/>
          <p:cNvSpPr txBox="1"/>
          <p:nvPr/>
        </p:nvSpPr>
        <p:spPr>
          <a:xfrm>
            <a:off x="6583680" y="393192"/>
            <a:ext cx="5074920" cy="274320"/>
          </a:xfrm>
          <a:prstGeom prst="rect">
            <a:avLst/>
          </a:prstGeom>
          <a:noFill/>
        </p:spPr>
        <p:txBody>
          <a:bodyPr wrap="square" lIns="0" rIns="0" tIns="0" bIns="0">
            <a:spAutoFit/>
          </a:bodyPr>
          <a:lstStyle/>
          <a:p>
            <a:pPr>
              <a:lnSpc>
                <a:spcPct val="110000"/>
              </a:lnSpc>
              <a:spcAft>
                <a:spcPts val="0"/>
              </a:spcAft>
              <a:defRPr sz="1000" b="0">
                <a:solidFill>
                  <a:srgbClr val="50645D"/>
                </a:solidFill>
                <a:latin typeface="Aptos"/>
              </a:defRPr>
            </a:pPr>
            <a:r>
              <a:t>HACKSECURE 2026  /  TRACK 3  /  soloDolo</a:t>
            </a:r>
          </a:p>
        </p:txBody>
      </p:sp>
      <p:sp>
        <p:nvSpPr>
          <p:cNvPr id="5" name="TextBox 4"/>
          <p:cNvSpPr txBox="1"/>
          <p:nvPr/>
        </p:nvSpPr>
        <p:spPr>
          <a:xfrm>
            <a:off x="731520" y="932688"/>
            <a:ext cx="10058400" cy="274320"/>
          </a:xfrm>
          <a:prstGeom prst="rect">
            <a:avLst/>
          </a:prstGeom>
          <a:noFill/>
        </p:spPr>
        <p:txBody>
          <a:bodyPr wrap="square" lIns="0" rIns="0" tIns="0" bIns="0">
            <a:spAutoFit/>
          </a:bodyPr>
          <a:lstStyle/>
          <a:p>
            <a:pPr>
              <a:lnSpc>
                <a:spcPct val="110000"/>
              </a:lnSpc>
              <a:spcAft>
                <a:spcPts val="0"/>
              </a:spcAft>
              <a:defRPr sz="1100" b="1">
                <a:solidFill>
                  <a:srgbClr val="50645D"/>
                </a:solidFill>
                <a:latin typeface="Aptos"/>
              </a:defRPr>
            </a:pPr>
            <a:r>
              <a:t>08 / VALUE</a:t>
            </a:r>
          </a:p>
        </p:txBody>
      </p:sp>
      <p:sp>
        <p:nvSpPr>
          <p:cNvPr id="6" name="Rectangle 5"/>
          <p:cNvSpPr/>
          <p:nvPr/>
        </p:nvSpPr>
        <p:spPr>
          <a:xfrm>
            <a:off x="731520" y="6391656"/>
            <a:ext cx="10725912" cy="10972"/>
          </a:xfrm>
          <a:prstGeom prst="rect">
            <a:avLst/>
          </a:prstGeom>
          <a:solidFill>
            <a:srgbClr val="C5D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9144000" cy="182880"/>
          </a:xfrm>
          <a:prstGeom prst="rect">
            <a:avLst/>
          </a:prstGeom>
          <a:noFill/>
        </p:spPr>
        <p:txBody>
          <a:bodyPr wrap="square" lIns="0" rIns="0" tIns="0" bIns="0">
            <a:spAutoFit/>
          </a:bodyPr>
          <a:lstStyle/>
          <a:p>
            <a:pPr>
              <a:lnSpc>
                <a:spcPct val="110000"/>
              </a:lnSpc>
              <a:spcAft>
                <a:spcPts val="0"/>
              </a:spcAft>
              <a:defRPr sz="900" b="0">
                <a:solidFill>
                  <a:srgbClr val="50645D"/>
                </a:solidFill>
                <a:latin typeface="Aptos"/>
              </a:defRPr>
            </a:pPr>
            <a:r>
              <a:t>FIRST-HOUR SCAM RESPONSE  ·  SOUTH AFRICAN SMALL BUSINESSES</a:t>
            </a:r>
          </a:p>
        </p:txBody>
      </p:sp>
      <p:sp>
        <p:nvSpPr>
          <p:cNvPr id="8" name="TextBox 7"/>
          <p:cNvSpPr txBox="1"/>
          <p:nvPr/>
        </p:nvSpPr>
        <p:spPr>
          <a:xfrm>
            <a:off x="10972800" y="6492240"/>
            <a:ext cx="457200" cy="182880"/>
          </a:xfrm>
          <a:prstGeom prst="rect">
            <a:avLst/>
          </a:prstGeom>
          <a:noFill/>
        </p:spPr>
        <p:txBody>
          <a:bodyPr wrap="square" lIns="0" rIns="0" tIns="0" bIns="0">
            <a:spAutoFit/>
          </a:bodyPr>
          <a:lstStyle/>
          <a:p>
            <a:pPr>
              <a:lnSpc>
                <a:spcPct val="110000"/>
              </a:lnSpc>
              <a:spcAft>
                <a:spcPts val="0"/>
              </a:spcAft>
              <a:defRPr sz="1000" b="0">
                <a:solidFill>
                  <a:srgbClr val="123C35"/>
                </a:solidFill>
                <a:latin typeface="Aptos"/>
              </a:defRPr>
            </a:pPr>
            <a:r>
              <a:t>08</a:t>
            </a:r>
          </a:p>
        </p:txBody>
      </p:sp>
      <p:sp>
        <p:nvSpPr>
          <p:cNvPr id="9" name="TextBox 8"/>
          <p:cNvSpPr txBox="1"/>
          <p:nvPr/>
        </p:nvSpPr>
        <p:spPr>
          <a:xfrm>
            <a:off x="731520" y="1389888"/>
            <a:ext cx="10607040" cy="1234440"/>
          </a:xfrm>
          <a:prstGeom prst="rect">
            <a:avLst/>
          </a:prstGeom>
          <a:noFill/>
        </p:spPr>
        <p:txBody>
          <a:bodyPr wrap="square" lIns="0" rIns="0" tIns="0" bIns="0">
            <a:spAutoFit/>
          </a:bodyPr>
          <a:lstStyle/>
          <a:p>
            <a:pPr>
              <a:lnSpc>
                <a:spcPct val="110000"/>
              </a:lnSpc>
              <a:spcAft>
                <a:spcPts val="0"/>
              </a:spcAft>
              <a:defRPr sz="3900" b="1">
                <a:solidFill>
                  <a:srgbClr val="123C35"/>
                </a:solidFill>
                <a:latin typeface="Aptos"/>
              </a:defRPr>
            </a:pPr>
            <a:r>
              <a:t>Calm for the owner.</a:t>
            </a:r>
          </a:p>
          <a:p>
            <a:pPr>
              <a:lnSpc>
                <a:spcPct val="110000"/>
              </a:lnSpc>
              <a:spcAft>
                <a:spcPts val="0"/>
              </a:spcAft>
              <a:defRPr sz="3900" b="1">
                <a:solidFill>
                  <a:srgbClr val="123C35"/>
                </a:solidFill>
                <a:latin typeface="Aptos"/>
              </a:defRPr>
            </a:pPr>
            <a:r>
              <a:t>Clarity for the next responder.</a:t>
            </a:r>
          </a:p>
        </p:txBody>
      </p:sp>
      <p:sp>
        <p:nvSpPr>
          <p:cNvPr id="10" name="Rounded Rectangle 9"/>
          <p:cNvSpPr/>
          <p:nvPr/>
        </p:nvSpPr>
        <p:spPr>
          <a:xfrm>
            <a:off x="758952" y="3200400"/>
            <a:ext cx="5166360" cy="2176272"/>
          </a:xfrm>
          <a:prstGeom prst="roundRect">
            <a:avLst>
              <a:gd name="adj" fmla="val 12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4983" y="3438144"/>
            <a:ext cx="4663440" cy="274320"/>
          </a:xfrm>
          <a:prstGeom prst="rect">
            <a:avLst/>
          </a:prstGeom>
          <a:noFill/>
        </p:spPr>
        <p:txBody>
          <a:bodyPr wrap="square" lIns="0" rIns="0" tIns="0" bIns="0">
            <a:spAutoFit/>
          </a:bodyPr>
          <a:lstStyle/>
          <a:p>
            <a:pPr>
              <a:lnSpc>
                <a:spcPct val="110000"/>
              </a:lnSpc>
              <a:spcAft>
                <a:spcPts val="0"/>
              </a:spcAft>
              <a:defRPr sz="1100" b="1">
                <a:solidFill>
                  <a:srgbClr val="50645D"/>
                </a:solidFill>
                <a:latin typeface="Aptos"/>
              </a:defRPr>
            </a:pPr>
            <a:r>
              <a:t>OWNER</a:t>
            </a:r>
          </a:p>
        </p:txBody>
      </p:sp>
      <p:sp>
        <p:nvSpPr>
          <p:cNvPr id="12" name="TextBox 11"/>
          <p:cNvSpPr txBox="1"/>
          <p:nvPr/>
        </p:nvSpPr>
        <p:spPr>
          <a:xfrm>
            <a:off x="1014983" y="3913632"/>
            <a:ext cx="4663440" cy="502920"/>
          </a:xfrm>
          <a:prstGeom prst="rect">
            <a:avLst/>
          </a:prstGeom>
          <a:noFill/>
        </p:spPr>
        <p:txBody>
          <a:bodyPr wrap="square" lIns="0" rIns="0" tIns="0" bIns="0">
            <a:spAutoFit/>
          </a:bodyPr>
          <a:lstStyle/>
          <a:p>
            <a:pPr>
              <a:lnSpc>
                <a:spcPct val="110000"/>
              </a:lnSpc>
              <a:spcAft>
                <a:spcPts val="0"/>
              </a:spcAft>
              <a:defRPr sz="2800" b="1">
                <a:solidFill>
                  <a:srgbClr val="123C35"/>
                </a:solidFill>
                <a:latin typeface="Aptos"/>
              </a:defRPr>
            </a:pPr>
            <a:r>
              <a:t>Less to work out</a:t>
            </a:r>
          </a:p>
        </p:txBody>
      </p:sp>
      <p:sp>
        <p:nvSpPr>
          <p:cNvPr id="13" name="TextBox 12"/>
          <p:cNvSpPr txBox="1"/>
          <p:nvPr/>
        </p:nvSpPr>
        <p:spPr>
          <a:xfrm>
            <a:off x="1014983" y="4590288"/>
            <a:ext cx="4572000" cy="640080"/>
          </a:xfrm>
          <a:prstGeom prst="rect">
            <a:avLst/>
          </a:prstGeom>
          <a:noFill/>
        </p:spPr>
        <p:txBody>
          <a:bodyPr wrap="square" lIns="0" rIns="0" tIns="0" bIns="0">
            <a:spAutoFit/>
          </a:bodyPr>
          <a:lstStyle/>
          <a:p>
            <a:pPr>
              <a:lnSpc>
                <a:spcPct val="110000"/>
              </a:lnSpc>
              <a:spcAft>
                <a:spcPts val="0"/>
              </a:spcAft>
              <a:defRPr sz="1900" b="0">
                <a:solidFill>
                  <a:srgbClr val="162E29"/>
                </a:solidFill>
                <a:latin typeface="Aptos"/>
              </a:defRPr>
            </a:pPr>
            <a:r>
              <a:t>One action at a time, on the phone they already have.</a:t>
            </a:r>
          </a:p>
        </p:txBody>
      </p:sp>
      <p:sp>
        <p:nvSpPr>
          <p:cNvPr id="14" name="Rounded Rectangle 13"/>
          <p:cNvSpPr/>
          <p:nvPr/>
        </p:nvSpPr>
        <p:spPr>
          <a:xfrm>
            <a:off x="6245352" y="3200400"/>
            <a:ext cx="5166360" cy="2176272"/>
          </a:xfrm>
          <a:prstGeom prst="roundRect">
            <a:avLst>
              <a:gd name="adj" fmla="val 12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1384" y="3438144"/>
            <a:ext cx="4663440" cy="274320"/>
          </a:xfrm>
          <a:prstGeom prst="rect">
            <a:avLst/>
          </a:prstGeom>
          <a:noFill/>
        </p:spPr>
        <p:txBody>
          <a:bodyPr wrap="square" lIns="0" rIns="0" tIns="0" bIns="0">
            <a:spAutoFit/>
          </a:bodyPr>
          <a:lstStyle/>
          <a:p>
            <a:pPr>
              <a:lnSpc>
                <a:spcPct val="110000"/>
              </a:lnSpc>
              <a:spcAft>
                <a:spcPts val="0"/>
              </a:spcAft>
              <a:defRPr sz="1100" b="1">
                <a:solidFill>
                  <a:srgbClr val="50645D"/>
                </a:solidFill>
                <a:latin typeface="Aptos"/>
              </a:defRPr>
            </a:pPr>
            <a:r>
              <a:t>BANK / IT / INSURER</a:t>
            </a:r>
          </a:p>
        </p:txBody>
      </p:sp>
      <p:sp>
        <p:nvSpPr>
          <p:cNvPr id="16" name="TextBox 15"/>
          <p:cNvSpPr txBox="1"/>
          <p:nvPr/>
        </p:nvSpPr>
        <p:spPr>
          <a:xfrm>
            <a:off x="6501384" y="3913632"/>
            <a:ext cx="4663440" cy="502920"/>
          </a:xfrm>
          <a:prstGeom prst="rect">
            <a:avLst/>
          </a:prstGeom>
          <a:noFill/>
        </p:spPr>
        <p:txBody>
          <a:bodyPr wrap="square" lIns="0" rIns="0" tIns="0" bIns="0">
            <a:spAutoFit/>
          </a:bodyPr>
          <a:lstStyle/>
          <a:p>
            <a:pPr>
              <a:lnSpc>
                <a:spcPct val="110000"/>
              </a:lnSpc>
              <a:spcAft>
                <a:spcPts val="0"/>
              </a:spcAft>
              <a:defRPr sz="2800" b="1">
                <a:solidFill>
                  <a:srgbClr val="123C35"/>
                </a:solidFill>
                <a:latin typeface="Aptos"/>
              </a:defRPr>
            </a:pPr>
            <a:r>
              <a:t>A clearer starting record</a:t>
            </a:r>
          </a:p>
        </p:txBody>
      </p:sp>
      <p:sp>
        <p:nvSpPr>
          <p:cNvPr id="17" name="TextBox 16"/>
          <p:cNvSpPr txBox="1"/>
          <p:nvPr/>
        </p:nvSpPr>
        <p:spPr>
          <a:xfrm>
            <a:off x="6501384" y="4590288"/>
            <a:ext cx="4572000" cy="640080"/>
          </a:xfrm>
          <a:prstGeom prst="rect">
            <a:avLst/>
          </a:prstGeom>
          <a:noFill/>
        </p:spPr>
        <p:txBody>
          <a:bodyPr wrap="square" lIns="0" rIns="0" tIns="0" bIns="0">
            <a:spAutoFit/>
          </a:bodyPr>
          <a:lstStyle/>
          <a:p>
            <a:pPr>
              <a:lnSpc>
                <a:spcPct val="110000"/>
              </a:lnSpc>
              <a:spcAft>
                <a:spcPts val="0"/>
              </a:spcAft>
              <a:defRPr sz="1900" b="0">
                <a:solidFill>
                  <a:srgbClr val="162E29"/>
                </a:solidFill>
                <a:latin typeface="Aptos"/>
              </a:defRPr>
            </a:pPr>
            <a:r>
              <a:t>A timeline and evidence fingerprints, with originals kept by the owner.</a:t>
            </a:r>
          </a:p>
        </p:txBody>
      </p:sp>
      <p:sp>
        <p:nvSpPr>
          <p:cNvPr id="18" name="TextBox 17"/>
          <p:cNvSpPr txBox="1"/>
          <p:nvPr/>
        </p:nvSpPr>
        <p:spPr>
          <a:xfrm>
            <a:off x="758952" y="5760720"/>
            <a:ext cx="10424160" cy="320040"/>
          </a:xfrm>
          <a:prstGeom prst="rect">
            <a:avLst/>
          </a:prstGeom>
          <a:noFill/>
        </p:spPr>
        <p:txBody>
          <a:bodyPr wrap="square" lIns="0" rIns="0" tIns="0" bIns="0">
            <a:spAutoFit/>
          </a:bodyPr>
          <a:lstStyle/>
          <a:p>
            <a:pPr>
              <a:lnSpc>
                <a:spcPct val="110000"/>
              </a:lnSpc>
              <a:spcAft>
                <a:spcPts val="0"/>
              </a:spcAft>
              <a:defRPr sz="1300" b="0">
                <a:solidFill>
                  <a:srgbClr val="50645D"/>
                </a:solidFill>
                <a:latin typeface="Aptos"/>
              </a:defRPr>
            </a:pPr>
            <a:r>
              <a:t>Designed benefits to test. Mgadi cannot guarantee recovery or responder acceptance.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502920" y="402336"/>
            <a:ext cx="91440" cy="210312"/>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56616"/>
            <a:ext cx="2743200" cy="320040"/>
          </a:xfrm>
          <a:prstGeom prst="rect">
            <a:avLst/>
          </a:prstGeom>
          <a:noFill/>
        </p:spPr>
        <p:txBody>
          <a:bodyPr wrap="square" lIns="0" rIns="0" tIns="0" bIns="0">
            <a:spAutoFit/>
          </a:bodyPr>
          <a:lstStyle/>
          <a:p>
            <a:pPr>
              <a:lnSpc>
                <a:spcPct val="110000"/>
              </a:lnSpc>
              <a:spcAft>
                <a:spcPts val="0"/>
              </a:spcAft>
              <a:defRPr sz="1900" b="1">
                <a:solidFill>
                  <a:srgbClr val="123C35"/>
                </a:solidFill>
                <a:latin typeface="Aptos"/>
              </a:defRPr>
            </a:pPr>
            <a:r>
              <a:t>Mgadi</a:t>
            </a:r>
          </a:p>
        </p:txBody>
      </p:sp>
      <p:sp>
        <p:nvSpPr>
          <p:cNvPr id="4" name="TextBox 3"/>
          <p:cNvSpPr txBox="1"/>
          <p:nvPr/>
        </p:nvSpPr>
        <p:spPr>
          <a:xfrm>
            <a:off x="6583680" y="393192"/>
            <a:ext cx="5074920" cy="274320"/>
          </a:xfrm>
          <a:prstGeom prst="rect">
            <a:avLst/>
          </a:prstGeom>
          <a:noFill/>
        </p:spPr>
        <p:txBody>
          <a:bodyPr wrap="square" lIns="0" rIns="0" tIns="0" bIns="0">
            <a:spAutoFit/>
          </a:bodyPr>
          <a:lstStyle/>
          <a:p>
            <a:pPr>
              <a:lnSpc>
                <a:spcPct val="110000"/>
              </a:lnSpc>
              <a:spcAft>
                <a:spcPts val="0"/>
              </a:spcAft>
              <a:defRPr sz="1000" b="0">
                <a:solidFill>
                  <a:srgbClr val="50645D"/>
                </a:solidFill>
                <a:latin typeface="Aptos"/>
              </a:defRPr>
            </a:pPr>
            <a:r>
              <a:t>HACKSECURE 2026  /  TRACK 3  /  soloDolo</a:t>
            </a:r>
          </a:p>
        </p:txBody>
      </p:sp>
      <p:sp>
        <p:nvSpPr>
          <p:cNvPr id="5" name="TextBox 4"/>
          <p:cNvSpPr txBox="1"/>
          <p:nvPr/>
        </p:nvSpPr>
        <p:spPr>
          <a:xfrm>
            <a:off x="731520" y="932688"/>
            <a:ext cx="10058400" cy="274320"/>
          </a:xfrm>
          <a:prstGeom prst="rect">
            <a:avLst/>
          </a:prstGeom>
          <a:noFill/>
        </p:spPr>
        <p:txBody>
          <a:bodyPr wrap="square" lIns="0" rIns="0" tIns="0" bIns="0">
            <a:spAutoFit/>
          </a:bodyPr>
          <a:lstStyle/>
          <a:p>
            <a:pPr>
              <a:lnSpc>
                <a:spcPct val="110000"/>
              </a:lnSpc>
              <a:spcAft>
                <a:spcPts val="0"/>
              </a:spcAft>
              <a:defRPr sz="1100" b="1">
                <a:solidFill>
                  <a:srgbClr val="50645D"/>
                </a:solidFill>
                <a:latin typeface="Aptos"/>
              </a:defRPr>
            </a:pPr>
            <a:r>
              <a:t>09 / REACH AND SUSTAINABILITY</a:t>
            </a:r>
          </a:p>
        </p:txBody>
      </p:sp>
      <p:sp>
        <p:nvSpPr>
          <p:cNvPr id="6" name="Rectangle 5"/>
          <p:cNvSpPr/>
          <p:nvPr/>
        </p:nvSpPr>
        <p:spPr>
          <a:xfrm>
            <a:off x="731520" y="6391656"/>
            <a:ext cx="10725912" cy="10972"/>
          </a:xfrm>
          <a:prstGeom prst="rect">
            <a:avLst/>
          </a:prstGeom>
          <a:solidFill>
            <a:srgbClr val="C5D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9144000" cy="182880"/>
          </a:xfrm>
          <a:prstGeom prst="rect">
            <a:avLst/>
          </a:prstGeom>
          <a:noFill/>
        </p:spPr>
        <p:txBody>
          <a:bodyPr wrap="square" lIns="0" rIns="0" tIns="0" bIns="0">
            <a:spAutoFit/>
          </a:bodyPr>
          <a:lstStyle/>
          <a:p>
            <a:pPr>
              <a:lnSpc>
                <a:spcPct val="110000"/>
              </a:lnSpc>
              <a:spcAft>
                <a:spcPts val="0"/>
              </a:spcAft>
              <a:defRPr sz="900" b="0">
                <a:solidFill>
                  <a:srgbClr val="50645D"/>
                </a:solidFill>
                <a:latin typeface="Aptos"/>
              </a:defRPr>
            </a:pPr>
            <a:r>
              <a:t>FIRST-HOUR SCAM RESPONSE  ·  SOUTH AFRICAN SMALL BUSINESSES</a:t>
            </a:r>
          </a:p>
        </p:txBody>
      </p:sp>
      <p:sp>
        <p:nvSpPr>
          <p:cNvPr id="8" name="TextBox 7"/>
          <p:cNvSpPr txBox="1"/>
          <p:nvPr/>
        </p:nvSpPr>
        <p:spPr>
          <a:xfrm>
            <a:off x="10972800" y="6492240"/>
            <a:ext cx="457200" cy="182880"/>
          </a:xfrm>
          <a:prstGeom prst="rect">
            <a:avLst/>
          </a:prstGeom>
          <a:noFill/>
        </p:spPr>
        <p:txBody>
          <a:bodyPr wrap="square" lIns="0" rIns="0" tIns="0" bIns="0">
            <a:spAutoFit/>
          </a:bodyPr>
          <a:lstStyle/>
          <a:p>
            <a:pPr>
              <a:lnSpc>
                <a:spcPct val="110000"/>
              </a:lnSpc>
              <a:spcAft>
                <a:spcPts val="0"/>
              </a:spcAft>
              <a:defRPr sz="1000" b="0">
                <a:solidFill>
                  <a:srgbClr val="123C35"/>
                </a:solidFill>
                <a:latin typeface="Aptos"/>
              </a:defRPr>
            </a:pPr>
            <a:r>
              <a:t>09</a:t>
            </a:r>
          </a:p>
        </p:txBody>
      </p:sp>
      <p:sp>
        <p:nvSpPr>
          <p:cNvPr id="9" name="TextBox 8"/>
          <p:cNvSpPr txBox="1"/>
          <p:nvPr/>
        </p:nvSpPr>
        <p:spPr>
          <a:xfrm>
            <a:off x="731520" y="1389888"/>
            <a:ext cx="10607040" cy="1234440"/>
          </a:xfrm>
          <a:prstGeom prst="rect">
            <a:avLst/>
          </a:prstGeom>
          <a:noFill/>
        </p:spPr>
        <p:txBody>
          <a:bodyPr wrap="square" lIns="0" rIns="0" tIns="0" bIns="0">
            <a:spAutoFit/>
          </a:bodyPr>
          <a:lstStyle/>
          <a:p>
            <a:pPr>
              <a:lnSpc>
                <a:spcPct val="110000"/>
              </a:lnSpc>
              <a:spcAft>
                <a:spcPts val="0"/>
              </a:spcAft>
              <a:defRPr sz="4000" b="1">
                <a:solidFill>
                  <a:srgbClr val="123C35"/>
                </a:solidFill>
                <a:latin typeface="Aptos"/>
              </a:defRPr>
            </a:pPr>
            <a:r>
              <a:t>Free in a crisis.</a:t>
            </a:r>
          </a:p>
          <a:p>
            <a:pPr>
              <a:lnSpc>
                <a:spcPct val="110000"/>
              </a:lnSpc>
              <a:spcAft>
                <a:spcPts val="0"/>
              </a:spcAft>
              <a:defRPr sz="4000" b="1">
                <a:solidFill>
                  <a:srgbClr val="123C35"/>
                </a:solidFill>
                <a:latin typeface="Aptos"/>
              </a:defRPr>
            </a:pPr>
            <a:r>
              <a:t>Partners fund readiness.</a:t>
            </a:r>
          </a:p>
        </p:txBody>
      </p:sp>
      <p:sp>
        <p:nvSpPr>
          <p:cNvPr id="10" name="Rounded Rectangle 9"/>
          <p:cNvSpPr/>
          <p:nvPr/>
        </p:nvSpPr>
        <p:spPr>
          <a:xfrm>
            <a:off x="758952" y="3246120"/>
            <a:ext cx="3337560" cy="2057400"/>
          </a:xfrm>
          <a:prstGeom prst="roundRect">
            <a:avLst>
              <a:gd name="adj" fmla="val 12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3502152"/>
            <a:ext cx="2834640" cy="320040"/>
          </a:xfrm>
          <a:prstGeom prst="rect">
            <a:avLst/>
          </a:prstGeom>
          <a:noFill/>
        </p:spPr>
        <p:txBody>
          <a:bodyPr wrap="square" lIns="0" rIns="0" tIns="0" bIns="0">
            <a:spAutoFit/>
          </a:bodyPr>
          <a:lstStyle/>
          <a:p>
            <a:pPr>
              <a:lnSpc>
                <a:spcPct val="110000"/>
              </a:lnSpc>
              <a:spcAft>
                <a:spcPts val="0"/>
              </a:spcAft>
              <a:defRPr sz="1300" b="1">
                <a:solidFill>
                  <a:srgbClr val="50645D"/>
                </a:solidFill>
                <a:latin typeface="Aptos"/>
              </a:defRPr>
            </a:pPr>
            <a:r>
              <a:t>REACH</a:t>
            </a:r>
          </a:p>
        </p:txBody>
      </p:sp>
      <p:sp>
        <p:nvSpPr>
          <p:cNvPr id="12" name="TextBox 11"/>
          <p:cNvSpPr txBox="1"/>
          <p:nvPr/>
        </p:nvSpPr>
        <p:spPr>
          <a:xfrm>
            <a:off x="987552" y="4023360"/>
            <a:ext cx="2834640" cy="1051560"/>
          </a:xfrm>
          <a:prstGeom prst="rect">
            <a:avLst/>
          </a:prstGeom>
          <a:noFill/>
        </p:spPr>
        <p:txBody>
          <a:bodyPr wrap="square" lIns="0" rIns="0" tIns="0" bIns="0">
            <a:spAutoFit/>
          </a:bodyPr>
          <a:lstStyle/>
          <a:p>
            <a:pPr>
              <a:lnSpc>
                <a:spcPct val="110000"/>
              </a:lnSpc>
              <a:spcAft>
                <a:spcPts val="0"/>
              </a:spcAft>
              <a:defRPr sz="2100" b="1">
                <a:solidFill>
                  <a:srgbClr val="123C35"/>
                </a:solidFill>
                <a:latin typeface="Aptos"/>
              </a:defRPr>
            </a:pPr>
            <a:r>
              <a:t>Start with accountants and SMME associations.</a:t>
            </a:r>
          </a:p>
        </p:txBody>
      </p:sp>
      <p:sp>
        <p:nvSpPr>
          <p:cNvPr id="13" name="Rounded Rectangle 12"/>
          <p:cNvSpPr/>
          <p:nvPr/>
        </p:nvSpPr>
        <p:spPr>
          <a:xfrm>
            <a:off x="4416552" y="3246120"/>
            <a:ext cx="3337560" cy="2057400"/>
          </a:xfrm>
          <a:prstGeom prst="roundRect">
            <a:avLst>
              <a:gd name="adj" fmla="val 12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45152" y="3502152"/>
            <a:ext cx="2834640" cy="320040"/>
          </a:xfrm>
          <a:prstGeom prst="rect">
            <a:avLst/>
          </a:prstGeom>
          <a:noFill/>
        </p:spPr>
        <p:txBody>
          <a:bodyPr wrap="square" lIns="0" rIns="0" tIns="0" bIns="0">
            <a:spAutoFit/>
          </a:bodyPr>
          <a:lstStyle/>
          <a:p>
            <a:pPr>
              <a:lnSpc>
                <a:spcPct val="110000"/>
              </a:lnSpc>
              <a:spcAft>
                <a:spcPts val="0"/>
              </a:spcAft>
              <a:defRPr sz="1300" b="1">
                <a:solidFill>
                  <a:srgbClr val="50645D"/>
                </a:solidFill>
                <a:latin typeface="Aptos"/>
              </a:defRPr>
            </a:pPr>
            <a:r>
              <a:t>BENEFIT</a:t>
            </a:r>
          </a:p>
        </p:txBody>
      </p:sp>
      <p:sp>
        <p:nvSpPr>
          <p:cNvPr id="15" name="TextBox 14"/>
          <p:cNvSpPr txBox="1"/>
          <p:nvPr/>
        </p:nvSpPr>
        <p:spPr>
          <a:xfrm>
            <a:off x="4645152" y="4023360"/>
            <a:ext cx="2834640" cy="1051560"/>
          </a:xfrm>
          <a:prstGeom prst="rect">
            <a:avLst/>
          </a:prstGeom>
          <a:noFill/>
        </p:spPr>
        <p:txBody>
          <a:bodyPr wrap="square" lIns="0" rIns="0" tIns="0" bIns="0">
            <a:spAutoFit/>
          </a:bodyPr>
          <a:lstStyle/>
          <a:p>
            <a:pPr>
              <a:lnSpc>
                <a:spcPct val="110000"/>
              </a:lnSpc>
              <a:spcAft>
                <a:spcPts val="0"/>
              </a:spcAft>
              <a:defRPr sz="2100" b="1">
                <a:solidFill>
                  <a:srgbClr val="123C35"/>
                </a:solidFill>
                <a:latin typeface="Aptos"/>
              </a:defRPr>
            </a:pPr>
            <a:r>
              <a:t>A free emergency workflow for owners.</a:t>
            </a:r>
          </a:p>
        </p:txBody>
      </p:sp>
      <p:sp>
        <p:nvSpPr>
          <p:cNvPr id="16" name="Rounded Rectangle 15"/>
          <p:cNvSpPr/>
          <p:nvPr/>
        </p:nvSpPr>
        <p:spPr>
          <a:xfrm>
            <a:off x="8074152" y="3246120"/>
            <a:ext cx="3337560" cy="2057400"/>
          </a:xfrm>
          <a:prstGeom prst="roundRect">
            <a:avLst>
              <a:gd name="adj" fmla="val 12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2" y="3502152"/>
            <a:ext cx="2834640" cy="320040"/>
          </a:xfrm>
          <a:prstGeom prst="rect">
            <a:avLst/>
          </a:prstGeom>
          <a:noFill/>
        </p:spPr>
        <p:txBody>
          <a:bodyPr wrap="square" lIns="0" rIns="0" tIns="0" bIns="0">
            <a:spAutoFit/>
          </a:bodyPr>
          <a:lstStyle/>
          <a:p>
            <a:pPr>
              <a:lnSpc>
                <a:spcPct val="110000"/>
              </a:lnSpc>
              <a:spcAft>
                <a:spcPts val="0"/>
              </a:spcAft>
              <a:defRPr sz="1300" b="1">
                <a:solidFill>
                  <a:srgbClr val="50645D"/>
                </a:solidFill>
                <a:latin typeface="Aptos"/>
              </a:defRPr>
            </a:pPr>
            <a:r>
              <a:t>FUND</a:t>
            </a:r>
          </a:p>
        </p:txBody>
      </p:sp>
      <p:sp>
        <p:nvSpPr>
          <p:cNvPr id="18" name="TextBox 17"/>
          <p:cNvSpPr txBox="1"/>
          <p:nvPr/>
        </p:nvSpPr>
        <p:spPr>
          <a:xfrm>
            <a:off x="8302752" y="4023360"/>
            <a:ext cx="2834640" cy="1051560"/>
          </a:xfrm>
          <a:prstGeom prst="rect">
            <a:avLst/>
          </a:prstGeom>
          <a:noFill/>
        </p:spPr>
        <p:txBody>
          <a:bodyPr wrap="square" lIns="0" rIns="0" tIns="0" bIns="0">
            <a:spAutoFit/>
          </a:bodyPr>
          <a:lstStyle/>
          <a:p>
            <a:pPr>
              <a:lnSpc>
                <a:spcPct val="110000"/>
              </a:lnSpc>
              <a:spcAft>
                <a:spcPts val="0"/>
              </a:spcAft>
              <a:defRPr sz="2100" b="1">
                <a:solidFill>
                  <a:srgbClr val="123C35"/>
                </a:solidFill>
                <a:latin typeface="Aptos"/>
              </a:defRPr>
            </a:pPr>
            <a:r>
              <a:t>Test sponsored access and paid readiness tools.</a:t>
            </a:r>
          </a:p>
        </p:txBody>
      </p:sp>
      <p:sp>
        <p:nvSpPr>
          <p:cNvPr id="19" name="TextBox 18"/>
          <p:cNvSpPr txBox="1"/>
          <p:nvPr/>
        </p:nvSpPr>
        <p:spPr>
          <a:xfrm>
            <a:off x="758952" y="5541264"/>
            <a:ext cx="10515600" cy="548640"/>
          </a:xfrm>
          <a:prstGeom prst="rect">
            <a:avLst/>
          </a:prstGeom>
          <a:noFill/>
        </p:spPr>
        <p:txBody>
          <a:bodyPr wrap="square" lIns="0" rIns="0" tIns="0" bIns="0">
            <a:spAutoFit/>
          </a:bodyPr>
          <a:lstStyle/>
          <a:p>
            <a:pPr>
              <a:lnSpc>
                <a:spcPct val="110000"/>
              </a:lnSpc>
              <a:spcAft>
                <a:spcPts val="0"/>
              </a:spcAft>
              <a:defRPr sz="1500" b="0">
                <a:solidFill>
                  <a:srgbClr val="50645D"/>
                </a:solidFill>
                <a:latin typeface="Aptos"/>
              </a:defRPr>
            </a:pPr>
            <a:r>
              <a:t>Proposed model. No signed partnerships, paid plans or willingness-to-pay validation yet.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3C35"/>
        </a:solidFill>
        <a:effectLst/>
      </p:bgPr>
    </p:bg>
    <p:spTree>
      <p:nvGrpSpPr>
        <p:cNvPr id="1" name=""/>
        <p:cNvGrpSpPr/>
        <p:nvPr/>
      </p:nvGrpSpPr>
      <p:grpSpPr/>
      <p:sp>
        <p:nvSpPr>
          <p:cNvPr id="2" name="Rectangle 1"/>
          <p:cNvSpPr/>
          <p:nvPr/>
        </p:nvSpPr>
        <p:spPr>
          <a:xfrm>
            <a:off x="502920" y="402336"/>
            <a:ext cx="91440" cy="210312"/>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56616"/>
            <a:ext cx="2743200" cy="320040"/>
          </a:xfrm>
          <a:prstGeom prst="rect">
            <a:avLst/>
          </a:prstGeom>
          <a:noFill/>
        </p:spPr>
        <p:txBody>
          <a:bodyPr wrap="square" lIns="0" rIns="0" tIns="0" bIns="0">
            <a:spAutoFit/>
          </a:bodyPr>
          <a:lstStyle/>
          <a:p>
            <a:pPr>
              <a:lnSpc>
                <a:spcPct val="110000"/>
              </a:lnSpc>
              <a:spcAft>
                <a:spcPts val="0"/>
              </a:spcAft>
              <a:defRPr sz="1900" b="1">
                <a:solidFill>
                  <a:srgbClr val="F7F4EC"/>
                </a:solidFill>
                <a:latin typeface="Aptos"/>
              </a:defRPr>
            </a:pPr>
            <a:r>
              <a:t>Mgadi</a:t>
            </a:r>
          </a:p>
        </p:txBody>
      </p:sp>
      <p:sp>
        <p:nvSpPr>
          <p:cNvPr id="4" name="TextBox 3"/>
          <p:cNvSpPr txBox="1"/>
          <p:nvPr/>
        </p:nvSpPr>
        <p:spPr>
          <a:xfrm>
            <a:off x="6583680" y="393192"/>
            <a:ext cx="5074920" cy="274320"/>
          </a:xfrm>
          <a:prstGeom prst="rect">
            <a:avLst/>
          </a:prstGeom>
          <a:noFill/>
        </p:spPr>
        <p:txBody>
          <a:bodyPr wrap="square" lIns="0" rIns="0" tIns="0" bIns="0">
            <a:spAutoFit/>
          </a:bodyPr>
          <a:lstStyle/>
          <a:p>
            <a:pPr>
              <a:lnSpc>
                <a:spcPct val="110000"/>
              </a:lnSpc>
              <a:spcAft>
                <a:spcPts val="0"/>
              </a:spcAft>
              <a:defRPr sz="1000" b="0">
                <a:solidFill>
                  <a:srgbClr val="C8DED0"/>
                </a:solidFill>
                <a:latin typeface="Aptos"/>
              </a:defRPr>
            </a:pPr>
            <a:r>
              <a:t>HACKSECURE 2026  /  TRACK 3  /  soloDolo</a:t>
            </a:r>
          </a:p>
        </p:txBody>
      </p:sp>
      <p:sp>
        <p:nvSpPr>
          <p:cNvPr id="5" name="TextBox 4"/>
          <p:cNvSpPr txBox="1"/>
          <p:nvPr/>
        </p:nvSpPr>
        <p:spPr>
          <a:xfrm>
            <a:off x="731520" y="932688"/>
            <a:ext cx="10058400" cy="274320"/>
          </a:xfrm>
          <a:prstGeom prst="rect">
            <a:avLst/>
          </a:prstGeom>
          <a:noFill/>
        </p:spPr>
        <p:txBody>
          <a:bodyPr wrap="square" lIns="0" rIns="0" tIns="0" bIns="0">
            <a:spAutoFit/>
          </a:bodyPr>
          <a:lstStyle/>
          <a:p>
            <a:pPr>
              <a:lnSpc>
                <a:spcPct val="110000"/>
              </a:lnSpc>
              <a:spcAft>
                <a:spcPts val="0"/>
              </a:spcAft>
              <a:defRPr sz="1100" b="1">
                <a:solidFill>
                  <a:srgbClr val="E9B44C"/>
                </a:solidFill>
                <a:latin typeface="Aptos"/>
              </a:defRPr>
            </a:pPr>
            <a:r>
              <a:t>10 / THE ASK</a:t>
            </a:r>
          </a:p>
        </p:txBody>
      </p:sp>
      <p:sp>
        <p:nvSpPr>
          <p:cNvPr id="6" name="Rectangle 5"/>
          <p:cNvSpPr/>
          <p:nvPr/>
        </p:nvSpPr>
        <p:spPr>
          <a:xfrm>
            <a:off x="731520" y="6391656"/>
            <a:ext cx="10725912" cy="10972"/>
          </a:xfrm>
          <a:prstGeom prst="rect">
            <a:avLst/>
          </a:prstGeom>
          <a:solidFill>
            <a:srgbClr val="5064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9144000" cy="182880"/>
          </a:xfrm>
          <a:prstGeom prst="rect">
            <a:avLst/>
          </a:prstGeom>
          <a:noFill/>
        </p:spPr>
        <p:txBody>
          <a:bodyPr wrap="square" lIns="0" rIns="0" tIns="0" bIns="0">
            <a:spAutoFit/>
          </a:bodyPr>
          <a:lstStyle/>
          <a:p>
            <a:pPr>
              <a:lnSpc>
                <a:spcPct val="110000"/>
              </a:lnSpc>
              <a:spcAft>
                <a:spcPts val="0"/>
              </a:spcAft>
              <a:defRPr sz="900" b="0">
                <a:solidFill>
                  <a:srgbClr val="C8DED0"/>
                </a:solidFill>
                <a:latin typeface="Aptos"/>
              </a:defRPr>
            </a:pPr>
            <a:r>
              <a:t>FIRST-HOUR SCAM RESPONSE  ·  SOUTH AFRICAN SMALL BUSINESSES</a:t>
            </a:r>
          </a:p>
        </p:txBody>
      </p:sp>
      <p:sp>
        <p:nvSpPr>
          <p:cNvPr id="8" name="TextBox 7"/>
          <p:cNvSpPr txBox="1"/>
          <p:nvPr/>
        </p:nvSpPr>
        <p:spPr>
          <a:xfrm>
            <a:off x="10972800" y="6492240"/>
            <a:ext cx="457200" cy="182880"/>
          </a:xfrm>
          <a:prstGeom prst="rect">
            <a:avLst/>
          </a:prstGeom>
          <a:noFill/>
        </p:spPr>
        <p:txBody>
          <a:bodyPr wrap="square" lIns="0" rIns="0" tIns="0" bIns="0">
            <a:spAutoFit/>
          </a:bodyPr>
          <a:lstStyle/>
          <a:p>
            <a:pPr>
              <a:lnSpc>
                <a:spcPct val="110000"/>
              </a:lnSpc>
              <a:spcAft>
                <a:spcPts val="0"/>
              </a:spcAft>
              <a:defRPr sz="1000" b="0">
                <a:solidFill>
                  <a:srgbClr val="F7F4EC"/>
                </a:solidFill>
                <a:latin typeface="Aptos"/>
              </a:defRPr>
            </a:pPr>
            <a:r>
              <a:t>10</a:t>
            </a:r>
          </a:p>
        </p:txBody>
      </p:sp>
      <p:sp>
        <p:nvSpPr>
          <p:cNvPr id="9" name="TextBox 8"/>
          <p:cNvSpPr txBox="1"/>
          <p:nvPr/>
        </p:nvSpPr>
        <p:spPr>
          <a:xfrm>
            <a:off x="731520" y="1417320"/>
            <a:ext cx="10515600" cy="1645920"/>
          </a:xfrm>
          <a:prstGeom prst="rect">
            <a:avLst/>
          </a:prstGeom>
          <a:noFill/>
        </p:spPr>
        <p:txBody>
          <a:bodyPr wrap="square" lIns="0" rIns="0" tIns="0" bIns="0">
            <a:spAutoFit/>
          </a:bodyPr>
          <a:lstStyle/>
          <a:p>
            <a:pPr>
              <a:lnSpc>
                <a:spcPct val="110000"/>
              </a:lnSpc>
              <a:spcAft>
                <a:spcPts val="0"/>
              </a:spcAft>
              <a:defRPr sz="4300" b="1">
                <a:solidFill>
                  <a:srgbClr val="F7F4EC"/>
                </a:solidFill>
                <a:latin typeface="Aptos"/>
              </a:defRPr>
            </a:pPr>
            <a:r>
              <a:t>The first hour shouldn’t</a:t>
            </a:r>
          </a:p>
          <a:p>
            <a:pPr>
              <a:lnSpc>
                <a:spcPct val="110000"/>
              </a:lnSpc>
              <a:spcAft>
                <a:spcPts val="0"/>
              </a:spcAft>
              <a:defRPr sz="4300" b="1">
                <a:solidFill>
                  <a:srgbClr val="F7F4EC"/>
                </a:solidFill>
                <a:latin typeface="Aptos"/>
              </a:defRPr>
            </a:pPr>
            <a:r>
              <a:t>feel like you’re alone.</a:t>
            </a:r>
          </a:p>
        </p:txBody>
      </p:sp>
      <p:sp>
        <p:nvSpPr>
          <p:cNvPr id="10" name="TextBox 9"/>
          <p:cNvSpPr txBox="1"/>
          <p:nvPr/>
        </p:nvSpPr>
        <p:spPr>
          <a:xfrm>
            <a:off x="758952" y="3529584"/>
            <a:ext cx="10332720" cy="457200"/>
          </a:xfrm>
          <a:prstGeom prst="rect">
            <a:avLst/>
          </a:prstGeom>
          <a:noFill/>
        </p:spPr>
        <p:txBody>
          <a:bodyPr wrap="square" lIns="0" rIns="0" tIns="0" bIns="0">
            <a:spAutoFit/>
          </a:bodyPr>
          <a:lstStyle/>
          <a:p>
            <a:pPr>
              <a:lnSpc>
                <a:spcPct val="110000"/>
              </a:lnSpc>
              <a:spcAft>
                <a:spcPts val="0"/>
              </a:spcAft>
              <a:defRPr sz="2300" b="0">
                <a:solidFill>
                  <a:srgbClr val="C8DED0"/>
                </a:solidFill>
                <a:latin typeface="Aptos"/>
              </a:defRPr>
            </a:pPr>
            <a:r>
              <a:t>Help us turn a working prototype into a tested service.</a:t>
            </a:r>
          </a:p>
        </p:txBody>
      </p:sp>
      <p:sp>
        <p:nvSpPr>
          <p:cNvPr id="11" name="Rounded Rectangle 10"/>
          <p:cNvSpPr/>
          <p:nvPr/>
        </p:nvSpPr>
        <p:spPr>
          <a:xfrm>
            <a:off x="758952" y="4480560"/>
            <a:ext cx="5166360" cy="1097280"/>
          </a:xfrm>
          <a:prstGeom prst="roundRect">
            <a:avLst>
              <a:gd name="adj" fmla="val 12000"/>
            </a:avLst>
          </a:prstGeom>
          <a:solidFill>
            <a:srgbClr val="F7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4645152"/>
            <a:ext cx="914400" cy="594360"/>
          </a:xfrm>
          <a:prstGeom prst="rect">
            <a:avLst/>
          </a:prstGeom>
          <a:noFill/>
        </p:spPr>
        <p:txBody>
          <a:bodyPr wrap="square" lIns="0" rIns="0" tIns="0" bIns="0">
            <a:spAutoFit/>
          </a:bodyPr>
          <a:lstStyle/>
          <a:p>
            <a:pPr>
              <a:lnSpc>
                <a:spcPct val="110000"/>
              </a:lnSpc>
              <a:spcAft>
                <a:spcPts val="0"/>
              </a:spcAft>
              <a:defRPr sz="3800" b="1">
                <a:solidFill>
                  <a:srgbClr val="123C35"/>
                </a:solidFill>
                <a:latin typeface="Aptos"/>
              </a:defRPr>
            </a:pPr>
            <a:r>
              <a:t>1</a:t>
            </a:r>
          </a:p>
        </p:txBody>
      </p:sp>
      <p:sp>
        <p:nvSpPr>
          <p:cNvPr id="13" name="TextBox 12"/>
          <p:cNvSpPr txBox="1"/>
          <p:nvPr/>
        </p:nvSpPr>
        <p:spPr>
          <a:xfrm>
            <a:off x="1993392" y="4681728"/>
            <a:ext cx="3611880" cy="768096"/>
          </a:xfrm>
          <a:prstGeom prst="rect">
            <a:avLst/>
          </a:prstGeom>
          <a:noFill/>
        </p:spPr>
        <p:txBody>
          <a:bodyPr wrap="square" lIns="0" rIns="0" tIns="0" bIns="0">
            <a:spAutoFit/>
          </a:bodyPr>
          <a:lstStyle/>
          <a:p>
            <a:pPr>
              <a:lnSpc>
                <a:spcPct val="110000"/>
              </a:lnSpc>
              <a:spcAft>
                <a:spcPts val="0"/>
              </a:spcAft>
              <a:defRPr sz="2100" b="1">
                <a:solidFill>
                  <a:srgbClr val="123C35"/>
                </a:solidFill>
                <a:latin typeface="Aptos"/>
              </a:defRPr>
            </a:pPr>
            <a:r>
              <a:t>Practitioner to review the playbook</a:t>
            </a:r>
          </a:p>
        </p:txBody>
      </p:sp>
      <p:sp>
        <p:nvSpPr>
          <p:cNvPr id="14" name="Rounded Rectangle 13"/>
          <p:cNvSpPr/>
          <p:nvPr/>
        </p:nvSpPr>
        <p:spPr>
          <a:xfrm>
            <a:off x="6245352" y="4480560"/>
            <a:ext cx="5166360" cy="1097280"/>
          </a:xfrm>
          <a:prstGeom prst="roundRect">
            <a:avLst>
              <a:gd name="adj" fmla="val 12000"/>
            </a:avLst>
          </a:prstGeom>
          <a:solidFill>
            <a:srgbClr val="F7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4645152"/>
            <a:ext cx="914400" cy="594360"/>
          </a:xfrm>
          <a:prstGeom prst="rect">
            <a:avLst/>
          </a:prstGeom>
          <a:noFill/>
        </p:spPr>
        <p:txBody>
          <a:bodyPr wrap="square" lIns="0" rIns="0" tIns="0" bIns="0">
            <a:spAutoFit/>
          </a:bodyPr>
          <a:lstStyle/>
          <a:p>
            <a:pPr>
              <a:lnSpc>
                <a:spcPct val="110000"/>
              </a:lnSpc>
              <a:spcAft>
                <a:spcPts val="0"/>
              </a:spcAft>
              <a:defRPr sz="3800" b="1">
                <a:solidFill>
                  <a:srgbClr val="123C35"/>
                </a:solidFill>
                <a:latin typeface="Aptos"/>
              </a:defRPr>
            </a:pPr>
            <a:r>
              <a:t>10</a:t>
            </a:r>
          </a:p>
        </p:txBody>
      </p:sp>
      <p:sp>
        <p:nvSpPr>
          <p:cNvPr id="16" name="TextBox 15"/>
          <p:cNvSpPr txBox="1"/>
          <p:nvPr/>
        </p:nvSpPr>
        <p:spPr>
          <a:xfrm>
            <a:off x="7479792" y="4681728"/>
            <a:ext cx="3611880" cy="768096"/>
          </a:xfrm>
          <a:prstGeom prst="rect">
            <a:avLst/>
          </a:prstGeom>
          <a:noFill/>
        </p:spPr>
        <p:txBody>
          <a:bodyPr wrap="square" lIns="0" rIns="0" tIns="0" bIns="0">
            <a:spAutoFit/>
          </a:bodyPr>
          <a:lstStyle/>
          <a:p>
            <a:pPr>
              <a:lnSpc>
                <a:spcPct val="110000"/>
              </a:lnSpc>
              <a:spcAft>
                <a:spcPts val="0"/>
              </a:spcAft>
              <a:defRPr sz="2100" b="1">
                <a:solidFill>
                  <a:srgbClr val="123C35"/>
                </a:solidFill>
                <a:latin typeface="Aptos"/>
              </a:defRPr>
            </a:pPr>
            <a:r>
              <a:t>Small businesses to test the workflow</a:t>
            </a:r>
          </a:p>
        </p:txBody>
      </p:sp>
      <p:sp>
        <p:nvSpPr>
          <p:cNvPr id="17" name="TextBox 16"/>
          <p:cNvSpPr txBox="1"/>
          <p:nvPr/>
        </p:nvSpPr>
        <p:spPr>
          <a:xfrm>
            <a:off x="758952" y="5897880"/>
            <a:ext cx="10332720" cy="274320"/>
          </a:xfrm>
          <a:prstGeom prst="rect">
            <a:avLst/>
          </a:prstGeom>
          <a:noFill/>
        </p:spPr>
        <p:txBody>
          <a:bodyPr wrap="square" lIns="0" rIns="0" tIns="0" bIns="0">
            <a:spAutoFit/>
          </a:bodyPr>
          <a:lstStyle/>
          <a:p>
            <a:pPr>
              <a:lnSpc>
                <a:spcPct val="110000"/>
              </a:lnSpc>
              <a:spcAft>
                <a:spcPts val="0"/>
              </a:spcAft>
              <a:defRPr sz="1500" b="0">
                <a:solidFill>
                  <a:srgbClr val="C8DED0"/>
                </a:solidFill>
                <a:latin typeface="Aptos"/>
              </a:defRPr>
            </a:pPr>
            <a:r>
              <a:t>Chuma Meyiswa + Dalindyebo Mdledle  /  Team soloDolo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F7F4EC"/>
        </a:solidFill>
        <a:effectLst/>
      </p:bgPr>
    </p:bg>
    <p:spTree>
      <p:nvGrpSpPr>
        <p:cNvPr id="1" name=""/>
        <p:cNvGrpSpPr/>
        <p:nvPr/>
      </p:nvGrpSpPr>
      <p:grpSpPr/>
      <p:sp>
        <p:nvSpPr>
          <p:cNvPr id="2" name="Rectangle 1"/>
          <p:cNvSpPr/>
          <p:nvPr/>
        </p:nvSpPr>
        <p:spPr>
          <a:xfrm>
            <a:off x="502920" y="402336"/>
            <a:ext cx="91440" cy="210312"/>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56616"/>
            <a:ext cx="2743200" cy="320040"/>
          </a:xfrm>
          <a:prstGeom prst="rect">
            <a:avLst/>
          </a:prstGeom>
          <a:noFill/>
        </p:spPr>
        <p:txBody>
          <a:bodyPr wrap="square" lIns="0" rIns="0" tIns="0" bIns="0">
            <a:spAutoFit/>
          </a:bodyPr>
          <a:lstStyle/>
          <a:p>
            <a:pPr>
              <a:lnSpc>
                <a:spcPct val="110000"/>
              </a:lnSpc>
              <a:spcAft>
                <a:spcPts val="0"/>
              </a:spcAft>
              <a:defRPr sz="1900" b="1">
                <a:solidFill>
                  <a:srgbClr val="123C35"/>
                </a:solidFill>
                <a:latin typeface="Aptos"/>
              </a:defRPr>
            </a:pPr>
            <a:r>
              <a:t>Mgadi</a:t>
            </a:r>
          </a:p>
        </p:txBody>
      </p:sp>
      <p:sp>
        <p:nvSpPr>
          <p:cNvPr id="4" name="TextBox 3"/>
          <p:cNvSpPr txBox="1"/>
          <p:nvPr/>
        </p:nvSpPr>
        <p:spPr>
          <a:xfrm>
            <a:off x="6583680" y="393192"/>
            <a:ext cx="5074920" cy="274320"/>
          </a:xfrm>
          <a:prstGeom prst="rect">
            <a:avLst/>
          </a:prstGeom>
          <a:noFill/>
        </p:spPr>
        <p:txBody>
          <a:bodyPr wrap="square" lIns="0" rIns="0" tIns="0" bIns="0">
            <a:spAutoFit/>
          </a:bodyPr>
          <a:lstStyle/>
          <a:p>
            <a:pPr>
              <a:lnSpc>
                <a:spcPct val="110000"/>
              </a:lnSpc>
              <a:spcAft>
                <a:spcPts val="0"/>
              </a:spcAft>
              <a:defRPr sz="1000" b="0">
                <a:solidFill>
                  <a:srgbClr val="50645D"/>
                </a:solidFill>
                <a:latin typeface="Aptos"/>
              </a:defRPr>
            </a:pPr>
            <a:r>
              <a:t>HACKSECURE 2026  /  TRACK 3  /  soloDolo</a:t>
            </a:r>
          </a:p>
        </p:txBody>
      </p:sp>
      <p:sp>
        <p:nvSpPr>
          <p:cNvPr id="5" name="TextBox 4"/>
          <p:cNvSpPr txBox="1"/>
          <p:nvPr/>
        </p:nvSpPr>
        <p:spPr>
          <a:xfrm>
            <a:off x="731520" y="932688"/>
            <a:ext cx="10058400" cy="274320"/>
          </a:xfrm>
          <a:prstGeom prst="rect">
            <a:avLst/>
          </a:prstGeom>
          <a:noFill/>
        </p:spPr>
        <p:txBody>
          <a:bodyPr wrap="square" lIns="0" rIns="0" tIns="0" bIns="0">
            <a:spAutoFit/>
          </a:bodyPr>
          <a:lstStyle/>
          <a:p>
            <a:pPr>
              <a:lnSpc>
                <a:spcPct val="110000"/>
              </a:lnSpc>
              <a:spcAft>
                <a:spcPts val="0"/>
              </a:spcAft>
              <a:defRPr sz="1100" b="1">
                <a:solidFill>
                  <a:srgbClr val="50645D"/>
                </a:solidFill>
                <a:latin typeface="Aptos"/>
              </a:defRPr>
            </a:pPr>
            <a:r>
              <a:t>APPENDIX A / DATA BOUNDARY</a:t>
            </a:r>
          </a:p>
        </p:txBody>
      </p:sp>
      <p:sp>
        <p:nvSpPr>
          <p:cNvPr id="6" name="Rectangle 5"/>
          <p:cNvSpPr/>
          <p:nvPr/>
        </p:nvSpPr>
        <p:spPr>
          <a:xfrm>
            <a:off x="731520" y="6391656"/>
            <a:ext cx="10725912" cy="10972"/>
          </a:xfrm>
          <a:prstGeom prst="rect">
            <a:avLst/>
          </a:prstGeom>
          <a:solidFill>
            <a:srgbClr val="C5D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9144000" cy="182880"/>
          </a:xfrm>
          <a:prstGeom prst="rect">
            <a:avLst/>
          </a:prstGeom>
          <a:noFill/>
        </p:spPr>
        <p:txBody>
          <a:bodyPr wrap="square" lIns="0" rIns="0" tIns="0" bIns="0">
            <a:spAutoFit/>
          </a:bodyPr>
          <a:lstStyle/>
          <a:p>
            <a:pPr>
              <a:lnSpc>
                <a:spcPct val="110000"/>
              </a:lnSpc>
              <a:spcAft>
                <a:spcPts val="0"/>
              </a:spcAft>
              <a:defRPr sz="900" b="0">
                <a:solidFill>
                  <a:srgbClr val="50645D"/>
                </a:solidFill>
                <a:latin typeface="Aptos"/>
              </a:defRPr>
            </a:pPr>
            <a:r>
              <a:t>FIRST-HOUR SCAM RESPONSE  ·  SOUTH AFRICAN SMALL BUSINESSES</a:t>
            </a:r>
          </a:p>
        </p:txBody>
      </p:sp>
      <p:sp>
        <p:nvSpPr>
          <p:cNvPr id="8" name="TextBox 7"/>
          <p:cNvSpPr txBox="1"/>
          <p:nvPr/>
        </p:nvSpPr>
        <p:spPr>
          <a:xfrm>
            <a:off x="10972800" y="6492240"/>
            <a:ext cx="457200" cy="182880"/>
          </a:xfrm>
          <a:prstGeom prst="rect">
            <a:avLst/>
          </a:prstGeom>
          <a:noFill/>
        </p:spPr>
        <p:txBody>
          <a:bodyPr wrap="square" lIns="0" rIns="0" tIns="0" bIns="0">
            <a:spAutoFit/>
          </a:bodyPr>
          <a:lstStyle/>
          <a:p>
            <a:pPr>
              <a:lnSpc>
                <a:spcPct val="110000"/>
              </a:lnSpc>
              <a:spcAft>
                <a:spcPts val="0"/>
              </a:spcAft>
              <a:defRPr sz="1000" b="0">
                <a:solidFill>
                  <a:srgbClr val="123C35"/>
                </a:solidFill>
                <a:latin typeface="Aptos"/>
              </a:defRPr>
            </a:pPr>
            <a:r>
              <a:t>11</a:t>
            </a:r>
          </a:p>
        </p:txBody>
      </p:sp>
      <p:sp>
        <p:nvSpPr>
          <p:cNvPr id="9" name="TextBox 8"/>
          <p:cNvSpPr txBox="1"/>
          <p:nvPr/>
        </p:nvSpPr>
        <p:spPr>
          <a:xfrm>
            <a:off x="731520" y="1371600"/>
            <a:ext cx="10515600" cy="731520"/>
          </a:xfrm>
          <a:prstGeom prst="rect">
            <a:avLst/>
          </a:prstGeom>
          <a:noFill/>
        </p:spPr>
        <p:txBody>
          <a:bodyPr wrap="square" lIns="0" rIns="0" tIns="0" bIns="0">
            <a:spAutoFit/>
          </a:bodyPr>
          <a:lstStyle/>
          <a:p>
            <a:pPr>
              <a:lnSpc>
                <a:spcPct val="110000"/>
              </a:lnSpc>
              <a:spcAft>
                <a:spcPts val="0"/>
              </a:spcAft>
              <a:defRPr sz="3800" b="1">
                <a:solidFill>
                  <a:srgbClr val="123C35"/>
                </a:solidFill>
                <a:latin typeface="Aptos"/>
              </a:defRPr>
            </a:pPr>
            <a:r>
              <a:t>What stays. What can leave.</a:t>
            </a:r>
          </a:p>
        </p:txBody>
      </p:sp>
      <p:sp>
        <p:nvSpPr>
          <p:cNvPr id="10" name="Rounded Rectangle 9"/>
          <p:cNvSpPr/>
          <p:nvPr/>
        </p:nvSpPr>
        <p:spPr>
          <a:xfrm>
            <a:off x="758952" y="2560320"/>
            <a:ext cx="5166360" cy="2286000"/>
          </a:xfrm>
          <a:prstGeom prst="roundRect">
            <a:avLst>
              <a:gd name="adj" fmla="val 12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2779776"/>
            <a:ext cx="4663440" cy="320040"/>
          </a:xfrm>
          <a:prstGeom prst="rect">
            <a:avLst/>
          </a:prstGeom>
          <a:noFill/>
        </p:spPr>
        <p:txBody>
          <a:bodyPr wrap="square" lIns="0" rIns="0" tIns="0" bIns="0">
            <a:spAutoFit/>
          </a:bodyPr>
          <a:lstStyle/>
          <a:p>
            <a:pPr>
              <a:lnSpc>
                <a:spcPct val="110000"/>
              </a:lnSpc>
              <a:spcAft>
                <a:spcPts val="0"/>
              </a:spcAft>
              <a:defRPr sz="1400" b="1">
                <a:solidFill>
                  <a:srgbClr val="123C35"/>
                </a:solidFill>
                <a:latin typeface="Aptos"/>
              </a:defRPr>
            </a:pPr>
            <a:r>
              <a:t>ON THE DEVICE</a:t>
            </a:r>
          </a:p>
        </p:txBody>
      </p:sp>
      <p:sp>
        <p:nvSpPr>
          <p:cNvPr id="12" name="TextBox 11"/>
          <p:cNvSpPr txBox="1"/>
          <p:nvPr/>
        </p:nvSpPr>
        <p:spPr>
          <a:xfrm>
            <a:off x="987552" y="3364992"/>
            <a:ext cx="4663440" cy="1234440"/>
          </a:xfrm>
          <a:prstGeom prst="rect">
            <a:avLst/>
          </a:prstGeom>
          <a:noFill/>
        </p:spPr>
        <p:txBody>
          <a:bodyPr wrap="square" lIns="0" rIns="0" tIns="0" bIns="0">
            <a:spAutoFit/>
          </a:bodyPr>
          <a:lstStyle/>
          <a:p>
            <a:pPr>
              <a:lnSpc>
                <a:spcPct val="110000"/>
              </a:lnSpc>
              <a:spcAft>
                <a:spcPts val="1200"/>
              </a:spcAft>
              <a:defRPr sz="2000" b="0">
                <a:solidFill>
                  <a:srgbClr val="162E29"/>
                </a:solidFill>
                <a:latin typeface="Aptos"/>
              </a:defRPr>
            </a:pPr>
            <a:r>
              <a:t>Original story and evidence file bytes</a:t>
            </a:r>
          </a:p>
          <a:p>
            <a:pPr>
              <a:lnSpc>
                <a:spcPct val="110000"/>
              </a:lnSpc>
              <a:spcAft>
                <a:spcPts val="1200"/>
              </a:spcAft>
              <a:defRPr sz="2000" b="0">
                <a:solidFill>
                  <a:srgbClr val="162E29"/>
                </a:solidFill>
                <a:latin typeface="Aptos"/>
              </a:defRPr>
            </a:pPr>
            <a:r>
              <a:t>File fingerprints + incident pack</a:t>
            </a:r>
          </a:p>
          <a:p>
            <a:pPr>
              <a:lnSpc>
                <a:spcPct val="110000"/>
              </a:lnSpc>
              <a:spcAft>
                <a:spcPts val="1200"/>
              </a:spcAft>
              <a:defRPr sz="2000" b="0">
                <a:solidFill>
                  <a:srgbClr val="162E29"/>
                </a:solidFill>
                <a:latin typeface="Aptos"/>
              </a:defRPr>
            </a:pPr>
            <a:r>
              <a:t>Names supplied for masking</a:t>
            </a:r>
          </a:p>
        </p:txBody>
      </p:sp>
      <p:sp>
        <p:nvSpPr>
          <p:cNvPr id="13" name="Rounded Rectangle 12"/>
          <p:cNvSpPr/>
          <p:nvPr/>
        </p:nvSpPr>
        <p:spPr>
          <a:xfrm>
            <a:off x="6245352" y="2560320"/>
            <a:ext cx="5166360" cy="2286000"/>
          </a:xfrm>
          <a:prstGeom prst="roundRect">
            <a:avLst>
              <a:gd name="adj" fmla="val 12000"/>
            </a:avLst>
          </a:prstGeom>
          <a:solidFill>
            <a:srgbClr val="FF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2779776"/>
            <a:ext cx="4663440" cy="320040"/>
          </a:xfrm>
          <a:prstGeom prst="rect">
            <a:avLst/>
          </a:prstGeom>
          <a:noFill/>
        </p:spPr>
        <p:txBody>
          <a:bodyPr wrap="square" lIns="0" rIns="0" tIns="0" bIns="0">
            <a:spAutoFit/>
          </a:bodyPr>
          <a:lstStyle/>
          <a:p>
            <a:pPr>
              <a:lnSpc>
                <a:spcPct val="110000"/>
              </a:lnSpc>
              <a:spcAft>
                <a:spcPts val="0"/>
              </a:spcAft>
              <a:defRPr sz="1400" b="1">
                <a:solidFill>
                  <a:srgbClr val="123C35"/>
                </a:solidFill>
                <a:latin typeface="Aptos"/>
              </a:defRPr>
            </a:pPr>
            <a:r>
              <a:t>API / OPTIONAL AI</a:t>
            </a:r>
          </a:p>
        </p:txBody>
      </p:sp>
      <p:sp>
        <p:nvSpPr>
          <p:cNvPr id="15" name="TextBox 14"/>
          <p:cNvSpPr txBox="1"/>
          <p:nvPr/>
        </p:nvSpPr>
        <p:spPr>
          <a:xfrm>
            <a:off x="6473952" y="3364992"/>
            <a:ext cx="4663440" cy="1234440"/>
          </a:xfrm>
          <a:prstGeom prst="rect">
            <a:avLst/>
          </a:prstGeom>
          <a:noFill/>
        </p:spPr>
        <p:txBody>
          <a:bodyPr wrap="square" lIns="0" rIns="0" tIns="0" bIns="0">
            <a:spAutoFit/>
          </a:bodyPr>
          <a:lstStyle/>
          <a:p>
            <a:pPr>
              <a:lnSpc>
                <a:spcPct val="110000"/>
              </a:lnSpc>
              <a:spcAft>
                <a:spcPts val="1200"/>
              </a:spcAft>
              <a:defRPr sz="2000" b="0">
                <a:solidFill>
                  <a:srgbClr val="162E29"/>
                </a:solidFill>
                <a:latin typeface="Aptos"/>
              </a:defRPr>
            </a:pPr>
            <a:r>
              <a:t>Masked description for classification</a:t>
            </a:r>
          </a:p>
          <a:p>
            <a:pPr>
              <a:lnSpc>
                <a:spcPct val="110000"/>
              </a:lnSpc>
              <a:spcAft>
                <a:spcPts val="1200"/>
              </a:spcAft>
              <a:defRPr sz="2000" b="0">
                <a:solidFill>
                  <a:srgbClr val="162E29"/>
                </a:solidFill>
                <a:latin typeface="Aptos"/>
              </a:defRPr>
            </a:pPr>
            <a:r>
              <a:t>Validated label + confidence returned</a:t>
            </a:r>
          </a:p>
          <a:p>
            <a:pPr>
              <a:lnSpc>
                <a:spcPct val="110000"/>
              </a:lnSpc>
              <a:spcAft>
                <a:spcPts val="1200"/>
              </a:spcAft>
              <a:defRPr sz="2000" b="0">
                <a:solidFill>
                  <a:srgbClr val="162E29"/>
                </a:solidFill>
                <a:latin typeface="Aptos"/>
              </a:defRPr>
            </a:pPr>
            <a:r>
              <a:t>No uploaded evidence files</a:t>
            </a:r>
          </a:p>
        </p:txBody>
      </p:sp>
      <p:sp>
        <p:nvSpPr>
          <p:cNvPr id="16" name="TextBox 15"/>
          <p:cNvSpPr txBox="1"/>
          <p:nvPr/>
        </p:nvSpPr>
        <p:spPr>
          <a:xfrm>
            <a:off x="758952" y="5257800"/>
            <a:ext cx="10515600" cy="731520"/>
          </a:xfrm>
          <a:prstGeom prst="rect">
            <a:avLst/>
          </a:prstGeom>
          <a:noFill/>
        </p:spPr>
        <p:txBody>
          <a:bodyPr wrap="square" lIns="0" rIns="0" tIns="0" bIns="0">
            <a:spAutoFit/>
          </a:bodyPr>
          <a:lstStyle/>
          <a:p>
            <a:pPr>
              <a:lnSpc>
                <a:spcPct val="110000"/>
              </a:lnSpc>
              <a:spcAft>
                <a:spcPts val="0"/>
              </a:spcAft>
              <a:defRPr sz="2000" b="0">
                <a:solidFill>
                  <a:srgbClr val="50645D"/>
                </a:solidFill>
                <a:latin typeface="Aptos"/>
              </a:defRPr>
            </a:pPr>
            <a:r>
              <a:t>Limits: residual personal data is possible. The downloaded pack includes the original story and any business details entered; share it deliberately.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F7F4EC"/>
        </a:solidFill>
        <a:effectLst/>
      </p:bgPr>
    </p:bg>
    <p:spTree>
      <p:nvGrpSpPr>
        <p:cNvPr id="1" name=""/>
        <p:cNvGrpSpPr/>
        <p:nvPr/>
      </p:nvGrpSpPr>
      <p:grpSpPr/>
      <p:sp>
        <p:nvSpPr>
          <p:cNvPr id="2" name="Rectangle 1"/>
          <p:cNvSpPr/>
          <p:nvPr/>
        </p:nvSpPr>
        <p:spPr>
          <a:xfrm>
            <a:off x="502920" y="402336"/>
            <a:ext cx="91440" cy="210312"/>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56616"/>
            <a:ext cx="2743200" cy="320040"/>
          </a:xfrm>
          <a:prstGeom prst="rect">
            <a:avLst/>
          </a:prstGeom>
          <a:noFill/>
        </p:spPr>
        <p:txBody>
          <a:bodyPr wrap="square" lIns="0" rIns="0" tIns="0" bIns="0">
            <a:spAutoFit/>
          </a:bodyPr>
          <a:lstStyle/>
          <a:p>
            <a:pPr>
              <a:lnSpc>
                <a:spcPct val="110000"/>
              </a:lnSpc>
              <a:spcAft>
                <a:spcPts val="0"/>
              </a:spcAft>
              <a:defRPr sz="1900" b="1">
                <a:solidFill>
                  <a:srgbClr val="123C35"/>
                </a:solidFill>
                <a:latin typeface="Aptos"/>
              </a:defRPr>
            </a:pPr>
            <a:r>
              <a:t>Mgadi</a:t>
            </a:r>
          </a:p>
        </p:txBody>
      </p:sp>
      <p:sp>
        <p:nvSpPr>
          <p:cNvPr id="4" name="TextBox 3"/>
          <p:cNvSpPr txBox="1"/>
          <p:nvPr/>
        </p:nvSpPr>
        <p:spPr>
          <a:xfrm>
            <a:off x="6583680" y="393192"/>
            <a:ext cx="5074920" cy="274320"/>
          </a:xfrm>
          <a:prstGeom prst="rect">
            <a:avLst/>
          </a:prstGeom>
          <a:noFill/>
        </p:spPr>
        <p:txBody>
          <a:bodyPr wrap="square" lIns="0" rIns="0" tIns="0" bIns="0">
            <a:spAutoFit/>
          </a:bodyPr>
          <a:lstStyle/>
          <a:p>
            <a:pPr>
              <a:lnSpc>
                <a:spcPct val="110000"/>
              </a:lnSpc>
              <a:spcAft>
                <a:spcPts val="0"/>
              </a:spcAft>
              <a:defRPr sz="1000" b="0">
                <a:solidFill>
                  <a:srgbClr val="50645D"/>
                </a:solidFill>
                <a:latin typeface="Aptos"/>
              </a:defRPr>
            </a:pPr>
            <a:r>
              <a:t>HACKSECURE 2026  /  TRACK 3  /  soloDolo</a:t>
            </a:r>
          </a:p>
        </p:txBody>
      </p:sp>
      <p:sp>
        <p:nvSpPr>
          <p:cNvPr id="5" name="TextBox 4"/>
          <p:cNvSpPr txBox="1"/>
          <p:nvPr/>
        </p:nvSpPr>
        <p:spPr>
          <a:xfrm>
            <a:off x="731520" y="932688"/>
            <a:ext cx="10058400" cy="274320"/>
          </a:xfrm>
          <a:prstGeom prst="rect">
            <a:avLst/>
          </a:prstGeom>
          <a:noFill/>
        </p:spPr>
        <p:txBody>
          <a:bodyPr wrap="square" lIns="0" rIns="0" tIns="0" bIns="0">
            <a:spAutoFit/>
          </a:bodyPr>
          <a:lstStyle/>
          <a:p>
            <a:pPr>
              <a:lnSpc>
                <a:spcPct val="110000"/>
              </a:lnSpc>
              <a:spcAft>
                <a:spcPts val="0"/>
              </a:spcAft>
              <a:defRPr sz="1100" b="1">
                <a:solidFill>
                  <a:srgbClr val="50645D"/>
                </a:solidFill>
                <a:latin typeface="Aptos"/>
              </a:defRPr>
            </a:pPr>
            <a:r>
              <a:t>APPENDIX B / PROTOTYPE BOUNDARIES</a:t>
            </a:r>
          </a:p>
        </p:txBody>
      </p:sp>
      <p:sp>
        <p:nvSpPr>
          <p:cNvPr id="6" name="Rectangle 5"/>
          <p:cNvSpPr/>
          <p:nvPr/>
        </p:nvSpPr>
        <p:spPr>
          <a:xfrm>
            <a:off x="731520" y="6391656"/>
            <a:ext cx="10725912" cy="10972"/>
          </a:xfrm>
          <a:prstGeom prst="rect">
            <a:avLst/>
          </a:prstGeom>
          <a:solidFill>
            <a:srgbClr val="C5D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9144000" cy="182880"/>
          </a:xfrm>
          <a:prstGeom prst="rect">
            <a:avLst/>
          </a:prstGeom>
          <a:noFill/>
        </p:spPr>
        <p:txBody>
          <a:bodyPr wrap="square" lIns="0" rIns="0" tIns="0" bIns="0">
            <a:spAutoFit/>
          </a:bodyPr>
          <a:lstStyle/>
          <a:p>
            <a:pPr>
              <a:lnSpc>
                <a:spcPct val="110000"/>
              </a:lnSpc>
              <a:spcAft>
                <a:spcPts val="0"/>
              </a:spcAft>
              <a:defRPr sz="900" b="0">
                <a:solidFill>
                  <a:srgbClr val="50645D"/>
                </a:solidFill>
                <a:latin typeface="Aptos"/>
              </a:defRPr>
            </a:pPr>
            <a:r>
              <a:t>FIRST-HOUR SCAM RESPONSE  ·  SOUTH AFRICAN SMALL BUSINESSES</a:t>
            </a:r>
          </a:p>
        </p:txBody>
      </p:sp>
      <p:sp>
        <p:nvSpPr>
          <p:cNvPr id="8" name="TextBox 7"/>
          <p:cNvSpPr txBox="1"/>
          <p:nvPr/>
        </p:nvSpPr>
        <p:spPr>
          <a:xfrm>
            <a:off x="10972800" y="6492240"/>
            <a:ext cx="457200" cy="182880"/>
          </a:xfrm>
          <a:prstGeom prst="rect">
            <a:avLst/>
          </a:prstGeom>
          <a:noFill/>
        </p:spPr>
        <p:txBody>
          <a:bodyPr wrap="square" lIns="0" rIns="0" tIns="0" bIns="0">
            <a:spAutoFit/>
          </a:bodyPr>
          <a:lstStyle/>
          <a:p>
            <a:pPr>
              <a:lnSpc>
                <a:spcPct val="110000"/>
              </a:lnSpc>
              <a:spcAft>
                <a:spcPts val="0"/>
              </a:spcAft>
              <a:defRPr sz="1000" b="0">
                <a:solidFill>
                  <a:srgbClr val="123C35"/>
                </a:solidFill>
                <a:latin typeface="Aptos"/>
              </a:defRPr>
            </a:pPr>
            <a:r>
              <a:t>12</a:t>
            </a:r>
          </a:p>
        </p:txBody>
      </p:sp>
      <p:sp>
        <p:nvSpPr>
          <p:cNvPr id="9" name="TextBox 8"/>
          <p:cNvSpPr txBox="1"/>
          <p:nvPr/>
        </p:nvSpPr>
        <p:spPr>
          <a:xfrm>
            <a:off x="731520" y="1371600"/>
            <a:ext cx="10515600" cy="731520"/>
          </a:xfrm>
          <a:prstGeom prst="rect">
            <a:avLst/>
          </a:prstGeom>
          <a:noFill/>
        </p:spPr>
        <p:txBody>
          <a:bodyPr wrap="square" lIns="0" rIns="0" tIns="0" bIns="0">
            <a:spAutoFit/>
          </a:bodyPr>
          <a:lstStyle/>
          <a:p>
            <a:pPr>
              <a:lnSpc>
                <a:spcPct val="110000"/>
              </a:lnSpc>
              <a:spcAft>
                <a:spcPts val="0"/>
              </a:spcAft>
              <a:defRPr sz="3800" b="1">
                <a:solidFill>
                  <a:srgbClr val="123C35"/>
                </a:solidFill>
                <a:latin typeface="Aptos"/>
              </a:defRPr>
            </a:pPr>
            <a:r>
              <a:t>What we can claim today.</a:t>
            </a:r>
          </a:p>
        </p:txBody>
      </p:sp>
      <p:sp>
        <p:nvSpPr>
          <p:cNvPr id="10" name="TextBox 9"/>
          <p:cNvSpPr txBox="1"/>
          <p:nvPr/>
        </p:nvSpPr>
        <p:spPr>
          <a:xfrm>
            <a:off x="777240" y="2606040"/>
            <a:ext cx="1828800" cy="457200"/>
          </a:xfrm>
          <a:prstGeom prst="rect">
            <a:avLst/>
          </a:prstGeom>
          <a:noFill/>
        </p:spPr>
        <p:txBody>
          <a:bodyPr wrap="square" lIns="0" rIns="0" tIns="0" bIns="0">
            <a:spAutoFit/>
          </a:bodyPr>
          <a:lstStyle/>
          <a:p>
            <a:pPr>
              <a:lnSpc>
                <a:spcPct val="110000"/>
              </a:lnSpc>
              <a:spcAft>
                <a:spcPts val="0"/>
              </a:spcAft>
              <a:defRPr sz="2200" b="1">
                <a:solidFill>
                  <a:srgbClr val="123C35"/>
                </a:solidFill>
                <a:latin typeface="Aptos"/>
              </a:defRPr>
            </a:pPr>
            <a:r>
              <a:t>Built</a:t>
            </a:r>
          </a:p>
        </p:txBody>
      </p:sp>
      <p:sp>
        <p:nvSpPr>
          <p:cNvPr id="11" name="TextBox 10"/>
          <p:cNvSpPr txBox="1"/>
          <p:nvPr/>
        </p:nvSpPr>
        <p:spPr>
          <a:xfrm>
            <a:off x="2743200" y="2606040"/>
            <a:ext cx="8412480" cy="731520"/>
          </a:xfrm>
          <a:prstGeom prst="rect">
            <a:avLst/>
          </a:prstGeom>
          <a:noFill/>
        </p:spPr>
        <p:txBody>
          <a:bodyPr wrap="square" lIns="0" rIns="0" tIns="0" bIns="0">
            <a:spAutoFit/>
          </a:bodyPr>
          <a:lstStyle/>
          <a:p>
            <a:pPr>
              <a:lnSpc>
                <a:spcPct val="110000"/>
              </a:lnSpc>
              <a:spcAft>
                <a:spcPts val="0"/>
              </a:spcAft>
              <a:defRPr sz="2100" b="0">
                <a:solidFill>
                  <a:srgbClr val="162E29"/>
                </a:solidFill>
                <a:latin typeface="Aptos"/>
              </a:defRPr>
            </a:pPr>
            <a:r>
              <a:t>Rules triage; optional AI adapter; bank links; local fingerprints; pack/checksum.</a:t>
            </a:r>
          </a:p>
        </p:txBody>
      </p:sp>
      <p:sp>
        <p:nvSpPr>
          <p:cNvPr id="12" name="TextBox 11"/>
          <p:cNvSpPr txBox="1"/>
          <p:nvPr/>
        </p:nvSpPr>
        <p:spPr>
          <a:xfrm>
            <a:off x="777240" y="3566160"/>
            <a:ext cx="1828800" cy="457200"/>
          </a:xfrm>
          <a:prstGeom prst="rect">
            <a:avLst/>
          </a:prstGeom>
          <a:noFill/>
        </p:spPr>
        <p:txBody>
          <a:bodyPr wrap="square" lIns="0" rIns="0" tIns="0" bIns="0">
            <a:spAutoFit/>
          </a:bodyPr>
          <a:lstStyle/>
          <a:p>
            <a:pPr>
              <a:lnSpc>
                <a:spcPct val="110000"/>
              </a:lnSpc>
              <a:spcAft>
                <a:spcPts val="0"/>
              </a:spcAft>
              <a:defRPr sz="2200" b="1">
                <a:solidFill>
                  <a:srgbClr val="123C35"/>
                </a:solidFill>
                <a:latin typeface="Aptos"/>
              </a:defRPr>
            </a:pPr>
            <a:r>
              <a:t>Pending</a:t>
            </a:r>
          </a:p>
        </p:txBody>
      </p:sp>
      <p:sp>
        <p:nvSpPr>
          <p:cNvPr id="13" name="TextBox 12"/>
          <p:cNvSpPr txBox="1"/>
          <p:nvPr/>
        </p:nvSpPr>
        <p:spPr>
          <a:xfrm>
            <a:off x="2743200" y="3566160"/>
            <a:ext cx="8412480" cy="731520"/>
          </a:xfrm>
          <a:prstGeom prst="rect">
            <a:avLst/>
          </a:prstGeom>
          <a:noFill/>
        </p:spPr>
        <p:txBody>
          <a:bodyPr wrap="square" lIns="0" rIns="0" tIns="0" bIns="0">
            <a:spAutoFit/>
          </a:bodyPr>
          <a:lstStyle/>
          <a:p>
            <a:pPr>
              <a:lnSpc>
                <a:spcPct val="110000"/>
              </a:lnSpc>
              <a:spcAft>
                <a:spcPts val="0"/>
              </a:spcAft>
              <a:defRPr sz="2100" b="0">
                <a:solidFill>
                  <a:srgbClr val="162E29"/>
                </a:solidFill>
                <a:latin typeface="Aptos"/>
              </a:defRPr>
            </a:pPr>
            <a:r>
              <a:t>Practitioner review; phone HTTPS test; held-out AI evaluation; timed owner tests.</a:t>
            </a:r>
          </a:p>
        </p:txBody>
      </p:sp>
      <p:sp>
        <p:nvSpPr>
          <p:cNvPr id="14" name="TextBox 13"/>
          <p:cNvSpPr txBox="1"/>
          <p:nvPr/>
        </p:nvSpPr>
        <p:spPr>
          <a:xfrm>
            <a:off x="777240" y="4526280"/>
            <a:ext cx="1828800" cy="457200"/>
          </a:xfrm>
          <a:prstGeom prst="rect">
            <a:avLst/>
          </a:prstGeom>
          <a:noFill/>
        </p:spPr>
        <p:txBody>
          <a:bodyPr wrap="square" lIns="0" rIns="0" tIns="0" bIns="0">
            <a:spAutoFit/>
          </a:bodyPr>
          <a:lstStyle/>
          <a:p>
            <a:pPr>
              <a:lnSpc>
                <a:spcPct val="110000"/>
              </a:lnSpc>
              <a:spcAft>
                <a:spcPts val="0"/>
              </a:spcAft>
              <a:defRPr sz="2200" b="1">
                <a:solidFill>
                  <a:srgbClr val="123C35"/>
                </a:solidFill>
                <a:latin typeface="Aptos"/>
              </a:defRPr>
            </a:pPr>
            <a:r>
              <a:t>Not promised</a:t>
            </a:r>
          </a:p>
        </p:txBody>
      </p:sp>
      <p:sp>
        <p:nvSpPr>
          <p:cNvPr id="15" name="TextBox 14"/>
          <p:cNvSpPr txBox="1"/>
          <p:nvPr/>
        </p:nvSpPr>
        <p:spPr>
          <a:xfrm>
            <a:off x="2743200" y="4526280"/>
            <a:ext cx="8412480" cy="731520"/>
          </a:xfrm>
          <a:prstGeom prst="rect">
            <a:avLst/>
          </a:prstGeom>
          <a:noFill/>
        </p:spPr>
        <p:txBody>
          <a:bodyPr wrap="square" lIns="0" rIns="0" tIns="0" bIns="0">
            <a:spAutoFit/>
          </a:bodyPr>
          <a:lstStyle/>
          <a:p>
            <a:pPr>
              <a:lnSpc>
                <a:spcPct val="110000"/>
              </a:lnSpc>
              <a:spcAft>
                <a:spcPts val="0"/>
              </a:spcAft>
              <a:defRPr sz="2100" b="0">
                <a:solidFill>
                  <a:srgbClr val="162E29"/>
                </a:solidFill>
                <a:latin typeface="Aptos"/>
              </a:defRPr>
            </a:pPr>
            <a:r>
              <a:t>Recovery; genuine-evidence proof; legal admissibility; automated calls; full offline reload.</a:t>
            </a:r>
          </a:p>
        </p:txBody>
      </p:sp>
      <p:sp>
        <p:nvSpPr>
          <p:cNvPr id="16" name="TextBox 15"/>
          <p:cNvSpPr txBox="1"/>
          <p:nvPr/>
        </p:nvSpPr>
        <p:spPr>
          <a:xfrm>
            <a:off x="758952" y="5669280"/>
            <a:ext cx="10424160" cy="411480"/>
          </a:xfrm>
          <a:prstGeom prst="rect">
            <a:avLst/>
          </a:prstGeom>
          <a:noFill/>
        </p:spPr>
        <p:txBody>
          <a:bodyPr wrap="square" lIns="0" rIns="0" tIns="0" bIns="0">
            <a:spAutoFit/>
          </a:bodyPr>
          <a:lstStyle/>
          <a:p>
            <a:pPr>
              <a:lnSpc>
                <a:spcPct val="110000"/>
              </a:lnSpc>
              <a:spcAft>
                <a:spcPts val="0"/>
              </a:spcAft>
              <a:defRPr sz="1600" b="0">
                <a:solidFill>
                  <a:srgbClr val="50645D"/>
                </a:solidFill>
                <a:latin typeface="Aptos"/>
              </a:defRPr>
            </a:pPr>
            <a:r>
              <a:t>A checksum can be recomputed by an attacker. A successful check is not proof of authenticity.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123C35"/>
        </a:solidFill>
        <a:effectLst/>
      </p:bgPr>
    </p:bg>
    <p:spTree>
      <p:nvGrpSpPr>
        <p:cNvPr id="1" name=""/>
        <p:cNvGrpSpPr/>
        <p:nvPr/>
      </p:nvGrpSpPr>
      <p:grpSpPr/>
      <p:sp>
        <p:nvSpPr>
          <p:cNvPr id="2" name="Rectangle 1"/>
          <p:cNvSpPr/>
          <p:nvPr/>
        </p:nvSpPr>
        <p:spPr>
          <a:xfrm>
            <a:off x="502920" y="402336"/>
            <a:ext cx="91440" cy="210312"/>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56616"/>
            <a:ext cx="2743200" cy="320040"/>
          </a:xfrm>
          <a:prstGeom prst="rect">
            <a:avLst/>
          </a:prstGeom>
          <a:noFill/>
        </p:spPr>
        <p:txBody>
          <a:bodyPr wrap="square" lIns="0" rIns="0" tIns="0" bIns="0">
            <a:spAutoFit/>
          </a:bodyPr>
          <a:lstStyle/>
          <a:p>
            <a:pPr>
              <a:lnSpc>
                <a:spcPct val="110000"/>
              </a:lnSpc>
              <a:spcAft>
                <a:spcPts val="0"/>
              </a:spcAft>
              <a:defRPr sz="1900" b="1">
                <a:solidFill>
                  <a:srgbClr val="F7F4EC"/>
                </a:solidFill>
                <a:latin typeface="Aptos"/>
              </a:defRPr>
            </a:pPr>
            <a:r>
              <a:t>Mgadi</a:t>
            </a:r>
          </a:p>
        </p:txBody>
      </p:sp>
      <p:sp>
        <p:nvSpPr>
          <p:cNvPr id="4" name="TextBox 3"/>
          <p:cNvSpPr txBox="1"/>
          <p:nvPr/>
        </p:nvSpPr>
        <p:spPr>
          <a:xfrm>
            <a:off x="6583680" y="393192"/>
            <a:ext cx="5074920" cy="274320"/>
          </a:xfrm>
          <a:prstGeom prst="rect">
            <a:avLst/>
          </a:prstGeom>
          <a:noFill/>
        </p:spPr>
        <p:txBody>
          <a:bodyPr wrap="square" lIns="0" rIns="0" tIns="0" bIns="0">
            <a:spAutoFit/>
          </a:bodyPr>
          <a:lstStyle/>
          <a:p>
            <a:pPr>
              <a:lnSpc>
                <a:spcPct val="110000"/>
              </a:lnSpc>
              <a:spcAft>
                <a:spcPts val="0"/>
              </a:spcAft>
              <a:defRPr sz="1000" b="0">
                <a:solidFill>
                  <a:srgbClr val="C8DED0"/>
                </a:solidFill>
                <a:latin typeface="Aptos"/>
              </a:defRPr>
            </a:pPr>
            <a:r>
              <a:t>HACKSECURE 2026  /  TRACK 3  /  soloDolo</a:t>
            </a:r>
          </a:p>
        </p:txBody>
      </p:sp>
      <p:sp>
        <p:nvSpPr>
          <p:cNvPr id="5" name="TextBox 4"/>
          <p:cNvSpPr txBox="1"/>
          <p:nvPr/>
        </p:nvSpPr>
        <p:spPr>
          <a:xfrm>
            <a:off x="731520" y="932688"/>
            <a:ext cx="10058400" cy="274320"/>
          </a:xfrm>
          <a:prstGeom prst="rect">
            <a:avLst/>
          </a:prstGeom>
          <a:noFill/>
        </p:spPr>
        <p:txBody>
          <a:bodyPr wrap="square" lIns="0" rIns="0" tIns="0" bIns="0">
            <a:spAutoFit/>
          </a:bodyPr>
          <a:lstStyle/>
          <a:p>
            <a:pPr>
              <a:lnSpc>
                <a:spcPct val="110000"/>
              </a:lnSpc>
              <a:spcAft>
                <a:spcPts val="0"/>
              </a:spcAft>
              <a:defRPr sz="1100" b="1">
                <a:solidFill>
                  <a:srgbClr val="E9B44C"/>
                </a:solidFill>
                <a:latin typeface="Aptos"/>
              </a:defRPr>
            </a:pPr>
            <a:r>
              <a:t>APPENDIX C / BRAND SYSTEM</a:t>
            </a:r>
          </a:p>
        </p:txBody>
      </p:sp>
      <p:sp>
        <p:nvSpPr>
          <p:cNvPr id="6" name="Rectangle 5"/>
          <p:cNvSpPr/>
          <p:nvPr/>
        </p:nvSpPr>
        <p:spPr>
          <a:xfrm>
            <a:off x="731520" y="6391656"/>
            <a:ext cx="10725912" cy="10972"/>
          </a:xfrm>
          <a:prstGeom prst="rect">
            <a:avLst/>
          </a:prstGeom>
          <a:solidFill>
            <a:srgbClr val="5064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9144000" cy="182880"/>
          </a:xfrm>
          <a:prstGeom prst="rect">
            <a:avLst/>
          </a:prstGeom>
          <a:noFill/>
        </p:spPr>
        <p:txBody>
          <a:bodyPr wrap="square" lIns="0" rIns="0" tIns="0" bIns="0">
            <a:spAutoFit/>
          </a:bodyPr>
          <a:lstStyle/>
          <a:p>
            <a:pPr>
              <a:lnSpc>
                <a:spcPct val="110000"/>
              </a:lnSpc>
              <a:spcAft>
                <a:spcPts val="0"/>
              </a:spcAft>
              <a:defRPr sz="900" b="0">
                <a:solidFill>
                  <a:srgbClr val="C8DED0"/>
                </a:solidFill>
                <a:latin typeface="Aptos"/>
              </a:defRPr>
            </a:pPr>
            <a:r>
              <a:t>FIRST-HOUR SCAM RESPONSE  ·  SOUTH AFRICAN SMALL BUSINESSES</a:t>
            </a:r>
          </a:p>
        </p:txBody>
      </p:sp>
      <p:sp>
        <p:nvSpPr>
          <p:cNvPr id="8" name="TextBox 7"/>
          <p:cNvSpPr txBox="1"/>
          <p:nvPr/>
        </p:nvSpPr>
        <p:spPr>
          <a:xfrm>
            <a:off x="10972800" y="6492240"/>
            <a:ext cx="457200" cy="182880"/>
          </a:xfrm>
          <a:prstGeom prst="rect">
            <a:avLst/>
          </a:prstGeom>
          <a:noFill/>
        </p:spPr>
        <p:txBody>
          <a:bodyPr wrap="square" lIns="0" rIns="0" tIns="0" bIns="0">
            <a:spAutoFit/>
          </a:bodyPr>
          <a:lstStyle/>
          <a:p>
            <a:pPr>
              <a:lnSpc>
                <a:spcPct val="110000"/>
              </a:lnSpc>
              <a:spcAft>
                <a:spcPts val="0"/>
              </a:spcAft>
              <a:defRPr sz="1000" b="0">
                <a:solidFill>
                  <a:srgbClr val="F7F4EC"/>
                </a:solidFill>
                <a:latin typeface="Aptos"/>
              </a:defRPr>
            </a:pPr>
            <a:r>
              <a:t>13</a:t>
            </a:r>
          </a:p>
        </p:txBody>
      </p:sp>
      <p:sp>
        <p:nvSpPr>
          <p:cNvPr id="9" name="TextBox 8"/>
          <p:cNvSpPr txBox="1"/>
          <p:nvPr/>
        </p:nvSpPr>
        <p:spPr>
          <a:xfrm>
            <a:off x="731520" y="1371600"/>
            <a:ext cx="10515600" cy="731520"/>
          </a:xfrm>
          <a:prstGeom prst="rect">
            <a:avLst/>
          </a:prstGeom>
          <a:noFill/>
        </p:spPr>
        <p:txBody>
          <a:bodyPr wrap="square" lIns="0" rIns="0" tIns="0" bIns="0">
            <a:spAutoFit/>
          </a:bodyPr>
          <a:lstStyle/>
          <a:p>
            <a:pPr>
              <a:lnSpc>
                <a:spcPct val="110000"/>
              </a:lnSpc>
              <a:spcAft>
                <a:spcPts val="0"/>
              </a:spcAft>
              <a:defRPr sz="3400" b="1">
                <a:solidFill>
                  <a:srgbClr val="F7F4EC"/>
                </a:solidFill>
                <a:latin typeface="Aptos"/>
              </a:defRPr>
            </a:pPr>
            <a:r>
              <a:t>Calm enough to think. Clear enough to act.</a:t>
            </a:r>
          </a:p>
        </p:txBody>
      </p:sp>
      <p:sp>
        <p:nvSpPr>
          <p:cNvPr id="10" name="Rounded Rectangle 9"/>
          <p:cNvSpPr/>
          <p:nvPr/>
        </p:nvSpPr>
        <p:spPr>
          <a:xfrm>
            <a:off x="758952" y="2560320"/>
            <a:ext cx="1901952" cy="1280160"/>
          </a:xfrm>
          <a:prstGeom prst="roundRect">
            <a:avLst>
              <a:gd name="adj" fmla="val 12000"/>
            </a:avLst>
          </a:prstGeom>
          <a:solidFill>
            <a:srgbClr val="123C35"/>
          </a:solidFill>
          <a:ln>
            <a:solidFill>
              <a:srgbClr val="C8DE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4096512"/>
            <a:ext cx="1965960" cy="365760"/>
          </a:xfrm>
          <a:prstGeom prst="rect">
            <a:avLst/>
          </a:prstGeom>
          <a:noFill/>
        </p:spPr>
        <p:txBody>
          <a:bodyPr wrap="square" lIns="0" rIns="0" tIns="0" bIns="0">
            <a:spAutoFit/>
          </a:bodyPr>
          <a:lstStyle/>
          <a:p>
            <a:pPr>
              <a:lnSpc>
                <a:spcPct val="110000"/>
              </a:lnSpc>
              <a:spcAft>
                <a:spcPts val="0"/>
              </a:spcAft>
              <a:defRPr sz="2200" b="1">
                <a:solidFill>
                  <a:srgbClr val="F7F4EC"/>
                </a:solidFill>
                <a:latin typeface="Aptos"/>
              </a:defRPr>
            </a:pPr>
            <a:r>
              <a:t>Forest</a:t>
            </a:r>
          </a:p>
        </p:txBody>
      </p:sp>
      <p:sp>
        <p:nvSpPr>
          <p:cNvPr id="12" name="TextBox 11"/>
          <p:cNvSpPr txBox="1"/>
          <p:nvPr/>
        </p:nvSpPr>
        <p:spPr>
          <a:xfrm>
            <a:off x="758952" y="4590288"/>
            <a:ext cx="1965960" cy="274320"/>
          </a:xfrm>
          <a:prstGeom prst="rect">
            <a:avLst/>
          </a:prstGeom>
          <a:noFill/>
        </p:spPr>
        <p:txBody>
          <a:bodyPr wrap="square" lIns="0" rIns="0" tIns="0" bIns="0">
            <a:spAutoFit/>
          </a:bodyPr>
          <a:lstStyle/>
          <a:p>
            <a:pPr>
              <a:lnSpc>
                <a:spcPct val="110000"/>
              </a:lnSpc>
              <a:spcAft>
                <a:spcPts val="0"/>
              </a:spcAft>
              <a:defRPr sz="1500" b="0">
                <a:solidFill>
                  <a:srgbClr val="C8DED0"/>
                </a:solidFill>
                <a:latin typeface="Aptos"/>
              </a:defRPr>
            </a:pPr>
            <a:r>
              <a:t>#123C35</a:t>
            </a:r>
          </a:p>
        </p:txBody>
      </p:sp>
      <p:sp>
        <p:nvSpPr>
          <p:cNvPr id="13" name="TextBox 12"/>
          <p:cNvSpPr txBox="1"/>
          <p:nvPr/>
        </p:nvSpPr>
        <p:spPr>
          <a:xfrm>
            <a:off x="758952" y="5074920"/>
            <a:ext cx="1965960" cy="365760"/>
          </a:xfrm>
          <a:prstGeom prst="rect">
            <a:avLst/>
          </a:prstGeom>
          <a:noFill/>
        </p:spPr>
        <p:txBody>
          <a:bodyPr wrap="square" lIns="0" rIns="0" tIns="0" bIns="0">
            <a:spAutoFit/>
          </a:bodyPr>
          <a:lstStyle/>
          <a:p>
            <a:pPr>
              <a:lnSpc>
                <a:spcPct val="110000"/>
              </a:lnSpc>
              <a:spcAft>
                <a:spcPts val="0"/>
              </a:spcAft>
              <a:defRPr sz="1600" b="0">
                <a:solidFill>
                  <a:srgbClr val="C8DED0"/>
                </a:solidFill>
                <a:latin typeface="Aptos"/>
              </a:defRPr>
            </a:pPr>
            <a:r>
              <a:t>Foundation</a:t>
            </a:r>
          </a:p>
        </p:txBody>
      </p:sp>
      <p:sp>
        <p:nvSpPr>
          <p:cNvPr id="14" name="Rounded Rectangle 13"/>
          <p:cNvSpPr/>
          <p:nvPr/>
        </p:nvSpPr>
        <p:spPr>
          <a:xfrm>
            <a:off x="2953512" y="2560320"/>
            <a:ext cx="1901952" cy="1280160"/>
          </a:xfrm>
          <a:prstGeom prst="roundRect">
            <a:avLst>
              <a:gd name="adj" fmla="val 12000"/>
            </a:avLst>
          </a:prstGeom>
          <a:solidFill>
            <a:srgbClr val="F7F4EC"/>
          </a:solidFill>
          <a:ln>
            <a:solidFill>
              <a:srgbClr val="C8DE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53512" y="4096512"/>
            <a:ext cx="1965960" cy="365760"/>
          </a:xfrm>
          <a:prstGeom prst="rect">
            <a:avLst/>
          </a:prstGeom>
          <a:noFill/>
        </p:spPr>
        <p:txBody>
          <a:bodyPr wrap="square" lIns="0" rIns="0" tIns="0" bIns="0">
            <a:spAutoFit/>
          </a:bodyPr>
          <a:lstStyle/>
          <a:p>
            <a:pPr>
              <a:lnSpc>
                <a:spcPct val="110000"/>
              </a:lnSpc>
              <a:spcAft>
                <a:spcPts val="0"/>
              </a:spcAft>
              <a:defRPr sz="2200" b="1">
                <a:solidFill>
                  <a:srgbClr val="F7F4EC"/>
                </a:solidFill>
                <a:latin typeface="Aptos"/>
              </a:defRPr>
            </a:pPr>
            <a:r>
              <a:t>Ivory</a:t>
            </a:r>
          </a:p>
        </p:txBody>
      </p:sp>
      <p:sp>
        <p:nvSpPr>
          <p:cNvPr id="16" name="TextBox 15"/>
          <p:cNvSpPr txBox="1"/>
          <p:nvPr/>
        </p:nvSpPr>
        <p:spPr>
          <a:xfrm>
            <a:off x="2953512" y="4590288"/>
            <a:ext cx="1965960" cy="274320"/>
          </a:xfrm>
          <a:prstGeom prst="rect">
            <a:avLst/>
          </a:prstGeom>
          <a:noFill/>
        </p:spPr>
        <p:txBody>
          <a:bodyPr wrap="square" lIns="0" rIns="0" tIns="0" bIns="0">
            <a:spAutoFit/>
          </a:bodyPr>
          <a:lstStyle/>
          <a:p>
            <a:pPr>
              <a:lnSpc>
                <a:spcPct val="110000"/>
              </a:lnSpc>
              <a:spcAft>
                <a:spcPts val="0"/>
              </a:spcAft>
              <a:defRPr sz="1500" b="0">
                <a:solidFill>
                  <a:srgbClr val="C8DED0"/>
                </a:solidFill>
                <a:latin typeface="Aptos"/>
              </a:defRPr>
            </a:pPr>
            <a:r>
              <a:t>#F7F4EC</a:t>
            </a:r>
          </a:p>
        </p:txBody>
      </p:sp>
      <p:sp>
        <p:nvSpPr>
          <p:cNvPr id="17" name="TextBox 16"/>
          <p:cNvSpPr txBox="1"/>
          <p:nvPr/>
        </p:nvSpPr>
        <p:spPr>
          <a:xfrm>
            <a:off x="2953512" y="5074920"/>
            <a:ext cx="1965960" cy="365760"/>
          </a:xfrm>
          <a:prstGeom prst="rect">
            <a:avLst/>
          </a:prstGeom>
          <a:noFill/>
        </p:spPr>
        <p:txBody>
          <a:bodyPr wrap="square" lIns="0" rIns="0" tIns="0" bIns="0">
            <a:spAutoFit/>
          </a:bodyPr>
          <a:lstStyle/>
          <a:p>
            <a:pPr>
              <a:lnSpc>
                <a:spcPct val="110000"/>
              </a:lnSpc>
              <a:spcAft>
                <a:spcPts val="0"/>
              </a:spcAft>
              <a:defRPr sz="1600" b="0">
                <a:solidFill>
                  <a:srgbClr val="C8DED0"/>
                </a:solidFill>
                <a:latin typeface="Aptos"/>
              </a:defRPr>
            </a:pPr>
            <a:r>
              <a:t>Reading</a:t>
            </a:r>
          </a:p>
        </p:txBody>
      </p:sp>
      <p:sp>
        <p:nvSpPr>
          <p:cNvPr id="18" name="Rounded Rectangle 17"/>
          <p:cNvSpPr/>
          <p:nvPr/>
        </p:nvSpPr>
        <p:spPr>
          <a:xfrm>
            <a:off x="5148072" y="2560320"/>
            <a:ext cx="1901952" cy="1280160"/>
          </a:xfrm>
          <a:prstGeom prst="roundRect">
            <a:avLst>
              <a:gd name="adj" fmla="val 12000"/>
            </a:avLst>
          </a:prstGeom>
          <a:solidFill>
            <a:srgbClr val="E9B44C"/>
          </a:solidFill>
          <a:ln>
            <a:solidFill>
              <a:srgbClr val="C8DE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48072" y="4096512"/>
            <a:ext cx="1965960" cy="365760"/>
          </a:xfrm>
          <a:prstGeom prst="rect">
            <a:avLst/>
          </a:prstGeom>
          <a:noFill/>
        </p:spPr>
        <p:txBody>
          <a:bodyPr wrap="square" lIns="0" rIns="0" tIns="0" bIns="0">
            <a:spAutoFit/>
          </a:bodyPr>
          <a:lstStyle/>
          <a:p>
            <a:pPr>
              <a:lnSpc>
                <a:spcPct val="110000"/>
              </a:lnSpc>
              <a:spcAft>
                <a:spcPts val="0"/>
              </a:spcAft>
              <a:defRPr sz="2200" b="1">
                <a:solidFill>
                  <a:srgbClr val="F7F4EC"/>
                </a:solidFill>
                <a:latin typeface="Aptos"/>
              </a:defRPr>
            </a:pPr>
            <a:r>
              <a:t>Amber</a:t>
            </a:r>
          </a:p>
        </p:txBody>
      </p:sp>
      <p:sp>
        <p:nvSpPr>
          <p:cNvPr id="20" name="TextBox 19"/>
          <p:cNvSpPr txBox="1"/>
          <p:nvPr/>
        </p:nvSpPr>
        <p:spPr>
          <a:xfrm>
            <a:off x="5148072" y="4590288"/>
            <a:ext cx="1965960" cy="274320"/>
          </a:xfrm>
          <a:prstGeom prst="rect">
            <a:avLst/>
          </a:prstGeom>
          <a:noFill/>
        </p:spPr>
        <p:txBody>
          <a:bodyPr wrap="square" lIns="0" rIns="0" tIns="0" bIns="0">
            <a:spAutoFit/>
          </a:bodyPr>
          <a:lstStyle/>
          <a:p>
            <a:pPr>
              <a:lnSpc>
                <a:spcPct val="110000"/>
              </a:lnSpc>
              <a:spcAft>
                <a:spcPts val="0"/>
              </a:spcAft>
              <a:defRPr sz="1500" b="0">
                <a:solidFill>
                  <a:srgbClr val="C8DED0"/>
                </a:solidFill>
                <a:latin typeface="Aptos"/>
              </a:defRPr>
            </a:pPr>
            <a:r>
              <a:t>#E9B44C</a:t>
            </a:r>
          </a:p>
        </p:txBody>
      </p:sp>
      <p:sp>
        <p:nvSpPr>
          <p:cNvPr id="21" name="TextBox 20"/>
          <p:cNvSpPr txBox="1"/>
          <p:nvPr/>
        </p:nvSpPr>
        <p:spPr>
          <a:xfrm>
            <a:off x="5148072" y="5074920"/>
            <a:ext cx="1965960" cy="365760"/>
          </a:xfrm>
          <a:prstGeom prst="rect">
            <a:avLst/>
          </a:prstGeom>
          <a:noFill/>
        </p:spPr>
        <p:txBody>
          <a:bodyPr wrap="square" lIns="0" rIns="0" tIns="0" bIns="0">
            <a:spAutoFit/>
          </a:bodyPr>
          <a:lstStyle/>
          <a:p>
            <a:pPr>
              <a:lnSpc>
                <a:spcPct val="110000"/>
              </a:lnSpc>
              <a:spcAft>
                <a:spcPts val="0"/>
              </a:spcAft>
              <a:defRPr sz="1600" b="0">
                <a:solidFill>
                  <a:srgbClr val="C8DED0"/>
                </a:solidFill>
                <a:latin typeface="Aptos"/>
              </a:defRPr>
            </a:pPr>
            <a:r>
              <a:t>Emphasis</a:t>
            </a:r>
          </a:p>
        </p:txBody>
      </p:sp>
      <p:sp>
        <p:nvSpPr>
          <p:cNvPr id="22" name="Rounded Rectangle 21"/>
          <p:cNvSpPr/>
          <p:nvPr/>
        </p:nvSpPr>
        <p:spPr>
          <a:xfrm>
            <a:off x="7342631" y="2560320"/>
            <a:ext cx="1901952" cy="1280160"/>
          </a:xfrm>
          <a:prstGeom prst="roundRect">
            <a:avLst>
              <a:gd name="adj" fmla="val 12000"/>
            </a:avLst>
          </a:prstGeom>
          <a:solidFill>
            <a:srgbClr val="AD352C"/>
          </a:solidFill>
          <a:ln>
            <a:solidFill>
              <a:srgbClr val="C8DE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42631" y="4096512"/>
            <a:ext cx="1965960" cy="365760"/>
          </a:xfrm>
          <a:prstGeom prst="rect">
            <a:avLst/>
          </a:prstGeom>
          <a:noFill/>
        </p:spPr>
        <p:txBody>
          <a:bodyPr wrap="square" lIns="0" rIns="0" tIns="0" bIns="0">
            <a:spAutoFit/>
          </a:bodyPr>
          <a:lstStyle/>
          <a:p>
            <a:pPr>
              <a:lnSpc>
                <a:spcPct val="110000"/>
              </a:lnSpc>
              <a:spcAft>
                <a:spcPts val="0"/>
              </a:spcAft>
              <a:defRPr sz="2200" b="1">
                <a:solidFill>
                  <a:srgbClr val="F7F4EC"/>
                </a:solidFill>
                <a:latin typeface="Aptos"/>
              </a:defRPr>
            </a:pPr>
            <a:r>
              <a:t>Urgent</a:t>
            </a:r>
          </a:p>
        </p:txBody>
      </p:sp>
      <p:sp>
        <p:nvSpPr>
          <p:cNvPr id="24" name="TextBox 23"/>
          <p:cNvSpPr txBox="1"/>
          <p:nvPr/>
        </p:nvSpPr>
        <p:spPr>
          <a:xfrm>
            <a:off x="7342631" y="4590288"/>
            <a:ext cx="1965960" cy="274320"/>
          </a:xfrm>
          <a:prstGeom prst="rect">
            <a:avLst/>
          </a:prstGeom>
          <a:noFill/>
        </p:spPr>
        <p:txBody>
          <a:bodyPr wrap="square" lIns="0" rIns="0" tIns="0" bIns="0">
            <a:spAutoFit/>
          </a:bodyPr>
          <a:lstStyle/>
          <a:p>
            <a:pPr>
              <a:lnSpc>
                <a:spcPct val="110000"/>
              </a:lnSpc>
              <a:spcAft>
                <a:spcPts val="0"/>
              </a:spcAft>
              <a:defRPr sz="1500" b="0">
                <a:solidFill>
                  <a:srgbClr val="C8DED0"/>
                </a:solidFill>
                <a:latin typeface="Aptos"/>
              </a:defRPr>
            </a:pPr>
            <a:r>
              <a:t>#AD352C</a:t>
            </a:r>
          </a:p>
        </p:txBody>
      </p:sp>
      <p:sp>
        <p:nvSpPr>
          <p:cNvPr id="25" name="TextBox 24"/>
          <p:cNvSpPr txBox="1"/>
          <p:nvPr/>
        </p:nvSpPr>
        <p:spPr>
          <a:xfrm>
            <a:off x="7342631" y="5074920"/>
            <a:ext cx="1965960" cy="365760"/>
          </a:xfrm>
          <a:prstGeom prst="rect">
            <a:avLst/>
          </a:prstGeom>
          <a:noFill/>
        </p:spPr>
        <p:txBody>
          <a:bodyPr wrap="square" lIns="0" rIns="0" tIns="0" bIns="0">
            <a:spAutoFit/>
          </a:bodyPr>
          <a:lstStyle/>
          <a:p>
            <a:pPr>
              <a:lnSpc>
                <a:spcPct val="110000"/>
              </a:lnSpc>
              <a:spcAft>
                <a:spcPts val="0"/>
              </a:spcAft>
              <a:defRPr sz="1600" b="0">
                <a:solidFill>
                  <a:srgbClr val="C8DED0"/>
                </a:solidFill>
                <a:latin typeface="Aptos"/>
              </a:defRPr>
            </a:pPr>
            <a:r>
              <a:t>Bank action</a:t>
            </a:r>
          </a:p>
        </p:txBody>
      </p:sp>
      <p:sp>
        <p:nvSpPr>
          <p:cNvPr id="26" name="Rounded Rectangle 25"/>
          <p:cNvSpPr/>
          <p:nvPr/>
        </p:nvSpPr>
        <p:spPr>
          <a:xfrm>
            <a:off x="9537192" y="2560320"/>
            <a:ext cx="1901952" cy="1280160"/>
          </a:xfrm>
          <a:prstGeom prst="roundRect">
            <a:avLst>
              <a:gd name="adj" fmla="val 12000"/>
            </a:avLst>
          </a:prstGeom>
          <a:solidFill>
            <a:srgbClr val="237348"/>
          </a:solidFill>
          <a:ln>
            <a:solidFill>
              <a:srgbClr val="C8DE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37192" y="4096512"/>
            <a:ext cx="1965960" cy="365760"/>
          </a:xfrm>
          <a:prstGeom prst="rect">
            <a:avLst/>
          </a:prstGeom>
          <a:noFill/>
        </p:spPr>
        <p:txBody>
          <a:bodyPr wrap="square" lIns="0" rIns="0" tIns="0" bIns="0">
            <a:spAutoFit/>
          </a:bodyPr>
          <a:lstStyle/>
          <a:p>
            <a:pPr>
              <a:lnSpc>
                <a:spcPct val="110000"/>
              </a:lnSpc>
              <a:spcAft>
                <a:spcPts val="0"/>
              </a:spcAft>
              <a:defRPr sz="2200" b="1">
                <a:solidFill>
                  <a:srgbClr val="F7F4EC"/>
                </a:solidFill>
                <a:latin typeface="Aptos"/>
              </a:defRPr>
            </a:pPr>
            <a:r>
              <a:t>Complete</a:t>
            </a:r>
          </a:p>
        </p:txBody>
      </p:sp>
      <p:sp>
        <p:nvSpPr>
          <p:cNvPr id="28" name="TextBox 27"/>
          <p:cNvSpPr txBox="1"/>
          <p:nvPr/>
        </p:nvSpPr>
        <p:spPr>
          <a:xfrm>
            <a:off x="9537192" y="4590288"/>
            <a:ext cx="1965960" cy="274320"/>
          </a:xfrm>
          <a:prstGeom prst="rect">
            <a:avLst/>
          </a:prstGeom>
          <a:noFill/>
        </p:spPr>
        <p:txBody>
          <a:bodyPr wrap="square" lIns="0" rIns="0" tIns="0" bIns="0">
            <a:spAutoFit/>
          </a:bodyPr>
          <a:lstStyle/>
          <a:p>
            <a:pPr>
              <a:lnSpc>
                <a:spcPct val="110000"/>
              </a:lnSpc>
              <a:spcAft>
                <a:spcPts val="0"/>
              </a:spcAft>
              <a:defRPr sz="1500" b="0">
                <a:solidFill>
                  <a:srgbClr val="C8DED0"/>
                </a:solidFill>
                <a:latin typeface="Aptos"/>
              </a:defRPr>
            </a:pPr>
            <a:r>
              <a:t>#237348</a:t>
            </a:r>
          </a:p>
        </p:txBody>
      </p:sp>
      <p:sp>
        <p:nvSpPr>
          <p:cNvPr id="29" name="TextBox 28"/>
          <p:cNvSpPr txBox="1"/>
          <p:nvPr/>
        </p:nvSpPr>
        <p:spPr>
          <a:xfrm>
            <a:off x="9537192" y="5074920"/>
            <a:ext cx="1965960" cy="365760"/>
          </a:xfrm>
          <a:prstGeom prst="rect">
            <a:avLst/>
          </a:prstGeom>
          <a:noFill/>
        </p:spPr>
        <p:txBody>
          <a:bodyPr wrap="square" lIns="0" rIns="0" tIns="0" bIns="0">
            <a:spAutoFit/>
          </a:bodyPr>
          <a:lstStyle/>
          <a:p>
            <a:pPr>
              <a:lnSpc>
                <a:spcPct val="110000"/>
              </a:lnSpc>
              <a:spcAft>
                <a:spcPts val="0"/>
              </a:spcAft>
              <a:defRPr sz="1600" b="0">
                <a:solidFill>
                  <a:srgbClr val="C8DED0"/>
                </a:solidFill>
                <a:latin typeface="Aptos"/>
              </a:defRPr>
            </a:pPr>
            <a:r>
              <a:t>Checked state</a:t>
            </a:r>
          </a:p>
        </p:txBody>
      </p:sp>
      <p:sp>
        <p:nvSpPr>
          <p:cNvPr id="30" name="TextBox 29"/>
          <p:cNvSpPr txBox="1"/>
          <p:nvPr/>
        </p:nvSpPr>
        <p:spPr>
          <a:xfrm>
            <a:off x="758952" y="5806440"/>
            <a:ext cx="10515600" cy="274320"/>
          </a:xfrm>
          <a:prstGeom prst="rect">
            <a:avLst/>
          </a:prstGeom>
          <a:noFill/>
        </p:spPr>
        <p:txBody>
          <a:bodyPr wrap="square" lIns="0" rIns="0" tIns="0" bIns="0">
            <a:spAutoFit/>
          </a:bodyPr>
          <a:lstStyle/>
          <a:p>
            <a:pPr>
              <a:lnSpc>
                <a:spcPct val="110000"/>
              </a:lnSpc>
              <a:spcAft>
                <a:spcPts val="0"/>
              </a:spcAft>
              <a:defRPr sz="1400" b="0">
                <a:solidFill>
                  <a:srgbClr val="C8DED0"/>
                </a:solidFill>
                <a:latin typeface="Aptos"/>
              </a:defRPr>
            </a:pPr>
            <a:r>
              <a:t>Aptos / Segoe UI  ·  One message per slide  ·  Large type  ·  Status always has words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bg>
      <p:bgPr>
        <a:solidFill>
          <a:srgbClr val="F7F4EC"/>
        </a:solidFill>
        <a:effectLst/>
      </p:bgPr>
    </p:bg>
    <p:spTree>
      <p:nvGrpSpPr>
        <p:cNvPr id="1" name=""/>
        <p:cNvGrpSpPr/>
        <p:nvPr/>
      </p:nvGrpSpPr>
      <p:grpSpPr/>
      <p:sp>
        <p:nvSpPr>
          <p:cNvPr id="2" name="Rectangle 1"/>
          <p:cNvSpPr/>
          <p:nvPr/>
        </p:nvSpPr>
        <p:spPr>
          <a:xfrm>
            <a:off x="502920" y="402336"/>
            <a:ext cx="91440" cy="210312"/>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56616"/>
            <a:ext cx="2743200" cy="320040"/>
          </a:xfrm>
          <a:prstGeom prst="rect">
            <a:avLst/>
          </a:prstGeom>
          <a:noFill/>
        </p:spPr>
        <p:txBody>
          <a:bodyPr wrap="square" lIns="0" rIns="0" tIns="0" bIns="0">
            <a:spAutoFit/>
          </a:bodyPr>
          <a:lstStyle/>
          <a:p>
            <a:pPr>
              <a:lnSpc>
                <a:spcPct val="110000"/>
              </a:lnSpc>
              <a:spcAft>
                <a:spcPts val="0"/>
              </a:spcAft>
              <a:defRPr sz="1900" b="1">
                <a:solidFill>
                  <a:srgbClr val="123C35"/>
                </a:solidFill>
                <a:latin typeface="Aptos"/>
              </a:defRPr>
            </a:pPr>
            <a:r>
              <a:t>Mgadi</a:t>
            </a:r>
          </a:p>
        </p:txBody>
      </p:sp>
      <p:sp>
        <p:nvSpPr>
          <p:cNvPr id="4" name="TextBox 3"/>
          <p:cNvSpPr txBox="1"/>
          <p:nvPr/>
        </p:nvSpPr>
        <p:spPr>
          <a:xfrm>
            <a:off x="6583680" y="393192"/>
            <a:ext cx="5074920" cy="274320"/>
          </a:xfrm>
          <a:prstGeom prst="rect">
            <a:avLst/>
          </a:prstGeom>
          <a:noFill/>
        </p:spPr>
        <p:txBody>
          <a:bodyPr wrap="square" lIns="0" rIns="0" tIns="0" bIns="0">
            <a:spAutoFit/>
          </a:bodyPr>
          <a:lstStyle/>
          <a:p>
            <a:pPr>
              <a:lnSpc>
                <a:spcPct val="110000"/>
              </a:lnSpc>
              <a:spcAft>
                <a:spcPts val="0"/>
              </a:spcAft>
              <a:defRPr sz="1000" b="0">
                <a:solidFill>
                  <a:srgbClr val="50645D"/>
                </a:solidFill>
                <a:latin typeface="Aptos"/>
              </a:defRPr>
            </a:pPr>
            <a:r>
              <a:t>HACKSECURE 2026  /  TRACK 3  /  soloDolo</a:t>
            </a:r>
          </a:p>
        </p:txBody>
      </p:sp>
      <p:sp>
        <p:nvSpPr>
          <p:cNvPr id="5" name="TextBox 4"/>
          <p:cNvSpPr txBox="1"/>
          <p:nvPr/>
        </p:nvSpPr>
        <p:spPr>
          <a:xfrm>
            <a:off x="731520" y="932688"/>
            <a:ext cx="10058400" cy="274320"/>
          </a:xfrm>
          <a:prstGeom prst="rect">
            <a:avLst/>
          </a:prstGeom>
          <a:noFill/>
        </p:spPr>
        <p:txBody>
          <a:bodyPr wrap="square" lIns="0" rIns="0" tIns="0" bIns="0">
            <a:spAutoFit/>
          </a:bodyPr>
          <a:lstStyle/>
          <a:p>
            <a:pPr>
              <a:lnSpc>
                <a:spcPct val="110000"/>
              </a:lnSpc>
              <a:spcAft>
                <a:spcPts val="0"/>
              </a:spcAft>
              <a:defRPr sz="1100" b="1">
                <a:solidFill>
                  <a:srgbClr val="50645D"/>
                </a:solidFill>
                <a:latin typeface="Aptos"/>
              </a:defRPr>
            </a:pPr>
            <a:r>
              <a:t>APPENDIX D / SOURCES AND BASIS</a:t>
            </a:r>
          </a:p>
        </p:txBody>
      </p:sp>
      <p:sp>
        <p:nvSpPr>
          <p:cNvPr id="6" name="Rectangle 5"/>
          <p:cNvSpPr/>
          <p:nvPr/>
        </p:nvSpPr>
        <p:spPr>
          <a:xfrm>
            <a:off x="731520" y="6391656"/>
            <a:ext cx="10725912" cy="10972"/>
          </a:xfrm>
          <a:prstGeom prst="rect">
            <a:avLst/>
          </a:prstGeom>
          <a:solidFill>
            <a:srgbClr val="C5D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9144000" cy="182880"/>
          </a:xfrm>
          <a:prstGeom prst="rect">
            <a:avLst/>
          </a:prstGeom>
          <a:noFill/>
        </p:spPr>
        <p:txBody>
          <a:bodyPr wrap="square" lIns="0" rIns="0" tIns="0" bIns="0">
            <a:spAutoFit/>
          </a:bodyPr>
          <a:lstStyle/>
          <a:p>
            <a:pPr>
              <a:lnSpc>
                <a:spcPct val="110000"/>
              </a:lnSpc>
              <a:spcAft>
                <a:spcPts val="0"/>
              </a:spcAft>
              <a:defRPr sz="900" b="0">
                <a:solidFill>
                  <a:srgbClr val="50645D"/>
                </a:solidFill>
                <a:latin typeface="Aptos"/>
              </a:defRPr>
            </a:pPr>
            <a:r>
              <a:t>FIRST-HOUR SCAM RESPONSE  ·  SOUTH AFRICAN SMALL BUSINESSES</a:t>
            </a:r>
          </a:p>
        </p:txBody>
      </p:sp>
      <p:sp>
        <p:nvSpPr>
          <p:cNvPr id="8" name="TextBox 7"/>
          <p:cNvSpPr txBox="1"/>
          <p:nvPr/>
        </p:nvSpPr>
        <p:spPr>
          <a:xfrm>
            <a:off x="10972800" y="6492240"/>
            <a:ext cx="457200" cy="182880"/>
          </a:xfrm>
          <a:prstGeom prst="rect">
            <a:avLst/>
          </a:prstGeom>
          <a:noFill/>
        </p:spPr>
        <p:txBody>
          <a:bodyPr wrap="square" lIns="0" rIns="0" tIns="0" bIns="0">
            <a:spAutoFit/>
          </a:bodyPr>
          <a:lstStyle/>
          <a:p>
            <a:pPr>
              <a:lnSpc>
                <a:spcPct val="110000"/>
              </a:lnSpc>
              <a:spcAft>
                <a:spcPts val="0"/>
              </a:spcAft>
              <a:defRPr sz="1000" b="0">
                <a:solidFill>
                  <a:srgbClr val="123C35"/>
                </a:solidFill>
                <a:latin typeface="Aptos"/>
              </a:defRPr>
            </a:pPr>
            <a:r>
              <a:t>14</a:t>
            </a:r>
          </a:p>
        </p:txBody>
      </p:sp>
      <p:sp>
        <p:nvSpPr>
          <p:cNvPr id="9" name="TextBox 8"/>
          <p:cNvSpPr txBox="1"/>
          <p:nvPr/>
        </p:nvSpPr>
        <p:spPr>
          <a:xfrm>
            <a:off x="731520" y="1371600"/>
            <a:ext cx="10515600" cy="731520"/>
          </a:xfrm>
          <a:prstGeom prst="rect">
            <a:avLst/>
          </a:prstGeom>
          <a:noFill/>
        </p:spPr>
        <p:txBody>
          <a:bodyPr wrap="square" lIns="0" rIns="0" tIns="0" bIns="0">
            <a:spAutoFit/>
          </a:bodyPr>
          <a:lstStyle/>
          <a:p>
            <a:pPr>
              <a:lnSpc>
                <a:spcPct val="110000"/>
              </a:lnSpc>
              <a:spcAft>
                <a:spcPts val="0"/>
              </a:spcAft>
              <a:defRPr sz="3400" b="1">
                <a:solidFill>
                  <a:srgbClr val="123C35"/>
                </a:solidFill>
                <a:latin typeface="Aptos"/>
              </a:defRPr>
            </a:pPr>
            <a:r>
              <a:t>Grounded in the entry, not invented traction.</a:t>
            </a:r>
          </a:p>
        </p:txBody>
      </p:sp>
      <p:sp>
        <p:nvSpPr>
          <p:cNvPr id="10" name="TextBox 9"/>
          <p:cNvSpPr txBox="1"/>
          <p:nvPr/>
        </p:nvSpPr>
        <p:spPr>
          <a:xfrm>
            <a:off x="758952" y="2423160"/>
            <a:ext cx="2240280" cy="365760"/>
          </a:xfrm>
          <a:prstGeom prst="rect">
            <a:avLst/>
          </a:prstGeom>
          <a:noFill/>
        </p:spPr>
        <p:txBody>
          <a:bodyPr wrap="square" lIns="0" rIns="0" tIns="0" bIns="0">
            <a:spAutoFit/>
          </a:bodyPr>
          <a:lstStyle/>
          <a:p>
            <a:pPr>
              <a:lnSpc>
                <a:spcPct val="110000"/>
              </a:lnSpc>
              <a:spcAft>
                <a:spcPts val="0"/>
              </a:spcAft>
              <a:defRPr sz="1600" b="1">
                <a:solidFill>
                  <a:srgbClr val="123C35"/>
                </a:solidFill>
                <a:latin typeface="Aptos"/>
              </a:defRPr>
            </a:pPr>
            <a:r>
              <a:t>Existing deck</a:t>
            </a:r>
          </a:p>
        </p:txBody>
      </p:sp>
      <p:sp>
        <p:nvSpPr>
          <p:cNvPr id="11" name="TextBox 10"/>
          <p:cNvSpPr txBox="1"/>
          <p:nvPr/>
        </p:nvSpPr>
        <p:spPr>
          <a:xfrm>
            <a:off x="3090672" y="2423160"/>
            <a:ext cx="8275320" cy="621792"/>
          </a:xfrm>
          <a:prstGeom prst="rect">
            <a:avLst/>
          </a:prstGeom>
          <a:noFill/>
        </p:spPr>
        <p:txBody>
          <a:bodyPr wrap="square" lIns="0" rIns="0" tIns="0" bIns="0">
            <a:spAutoFit/>
          </a:bodyPr>
          <a:lstStyle/>
          <a:p>
            <a:pPr>
              <a:lnSpc>
                <a:spcPct val="110000"/>
              </a:lnSpc>
              <a:spcAft>
                <a:spcPts val="0"/>
              </a:spcAft>
              <a:defRPr sz="1500" b="0">
                <a:solidFill>
                  <a:srgbClr val="162E29"/>
                </a:solidFill>
                <a:latin typeface="Aptos"/>
              </a:defRPr>
            </a:pPr>
            <a:r>
              <a:t>Downloads / Mgadi_HackSecure_2026_Pitch.pdf · 19 Oct 2026</a:t>
            </a:r>
          </a:p>
        </p:txBody>
      </p:sp>
      <p:sp>
        <p:nvSpPr>
          <p:cNvPr id="12" name="TextBox 11"/>
          <p:cNvSpPr txBox="1"/>
          <p:nvPr/>
        </p:nvSpPr>
        <p:spPr>
          <a:xfrm>
            <a:off x="758952" y="3118104"/>
            <a:ext cx="2240280" cy="365760"/>
          </a:xfrm>
          <a:prstGeom prst="rect">
            <a:avLst/>
          </a:prstGeom>
          <a:noFill/>
        </p:spPr>
        <p:txBody>
          <a:bodyPr wrap="square" lIns="0" rIns="0" tIns="0" bIns="0">
            <a:spAutoFit/>
          </a:bodyPr>
          <a:lstStyle/>
          <a:p>
            <a:pPr>
              <a:lnSpc>
                <a:spcPct val="110000"/>
              </a:lnSpc>
              <a:spcAft>
                <a:spcPts val="0"/>
              </a:spcAft>
              <a:defRPr sz="1600" b="1">
                <a:solidFill>
                  <a:srgbClr val="123C35"/>
                </a:solidFill>
                <a:latin typeface="Aptos"/>
              </a:defRPr>
            </a:pPr>
            <a:r>
              <a:t>Submission criteria</a:t>
            </a:r>
          </a:p>
        </p:txBody>
      </p:sp>
      <p:sp>
        <p:nvSpPr>
          <p:cNvPr id="13" name="TextBox 12"/>
          <p:cNvSpPr txBox="1"/>
          <p:nvPr/>
        </p:nvSpPr>
        <p:spPr>
          <a:xfrm>
            <a:off x="3090672" y="3118104"/>
            <a:ext cx="8275320" cy="621792"/>
          </a:xfrm>
          <a:prstGeom prst="rect">
            <a:avLst/>
          </a:prstGeom>
          <a:noFill/>
        </p:spPr>
        <p:txBody>
          <a:bodyPr wrap="square" lIns="0" rIns="0" tIns="0" bIns="0">
            <a:spAutoFit/>
          </a:bodyPr>
          <a:lstStyle/>
          <a:p>
            <a:pPr>
              <a:lnSpc>
                <a:spcPct val="110000"/>
              </a:lnSpc>
              <a:spcAft>
                <a:spcPts val="0"/>
              </a:spcAft>
              <a:defRPr sz="1500" b="0">
                <a:solidFill>
                  <a:srgbClr val="162E29"/>
                </a:solidFill>
                <a:latin typeface="Aptos"/>
              </a:defRPr>
            </a:pPr>
            <a:r>
              <a:t>Downloads / HackSecure_2026_Submission_Pack- Business Canvas Model.pdf · p.2</a:t>
            </a:r>
          </a:p>
          <a:p>
            <a:pPr>
              <a:lnSpc>
                <a:spcPct val="110000"/>
              </a:lnSpc>
              <a:spcAft>
                <a:spcPts val="0"/>
              </a:spcAft>
              <a:defRPr sz="1500" b="0">
                <a:solidFill>
                  <a:srgbClr val="162E29"/>
                </a:solidFill>
                <a:latin typeface="Aptos"/>
              </a:defRPr>
            </a:pPr>
            <a:r>
              <a:t>Submission-stage criteria; final-stage scoring and pitch limit unconfirmed.</a:t>
            </a:r>
          </a:p>
        </p:txBody>
      </p:sp>
      <p:sp>
        <p:nvSpPr>
          <p:cNvPr id="14" name="TextBox 13"/>
          <p:cNvSpPr txBox="1"/>
          <p:nvPr/>
        </p:nvSpPr>
        <p:spPr>
          <a:xfrm>
            <a:off x="758952" y="3813048"/>
            <a:ext cx="2240280" cy="365760"/>
          </a:xfrm>
          <a:prstGeom prst="rect">
            <a:avLst/>
          </a:prstGeom>
          <a:noFill/>
        </p:spPr>
        <p:txBody>
          <a:bodyPr wrap="square" lIns="0" rIns="0" tIns="0" bIns="0">
            <a:spAutoFit/>
          </a:bodyPr>
          <a:lstStyle/>
          <a:p>
            <a:pPr>
              <a:lnSpc>
                <a:spcPct val="110000"/>
              </a:lnSpc>
              <a:spcAft>
                <a:spcPts val="0"/>
              </a:spcAft>
              <a:defRPr sz="1600" b="1">
                <a:solidFill>
                  <a:srgbClr val="123C35"/>
                </a:solidFill>
                <a:latin typeface="Aptos"/>
              </a:defRPr>
            </a:pPr>
            <a:r>
              <a:t>Product status</a:t>
            </a:r>
          </a:p>
        </p:txBody>
      </p:sp>
      <p:sp>
        <p:nvSpPr>
          <p:cNvPr id="15" name="TextBox 14"/>
          <p:cNvSpPr txBox="1"/>
          <p:nvPr/>
        </p:nvSpPr>
        <p:spPr>
          <a:xfrm>
            <a:off x="3090672" y="3813048"/>
            <a:ext cx="8275320" cy="621792"/>
          </a:xfrm>
          <a:prstGeom prst="rect">
            <a:avLst/>
          </a:prstGeom>
          <a:noFill/>
        </p:spPr>
        <p:txBody>
          <a:bodyPr wrap="square" lIns="0" rIns="0" tIns="0" bIns="0">
            <a:spAutoFit/>
          </a:bodyPr>
          <a:lstStyle/>
          <a:p>
            <a:pPr>
              <a:lnSpc>
                <a:spcPct val="110000"/>
              </a:lnSpc>
              <a:spcAft>
                <a:spcPts val="0"/>
              </a:spcAft>
              <a:defRPr sz="1500" b="0">
                <a:solidFill>
                  <a:srgbClr val="162E29"/>
                </a:solidFill>
                <a:latin typeface="Aptos"/>
              </a:defRPr>
            </a:pPr>
            <a:r>
              <a:t>build/entry/SOURCE-OF-TRUTH.md + current implementation · 27 Oct 2026</a:t>
            </a:r>
          </a:p>
        </p:txBody>
      </p:sp>
      <p:sp>
        <p:nvSpPr>
          <p:cNvPr id="16" name="TextBox 15"/>
          <p:cNvSpPr txBox="1"/>
          <p:nvPr/>
        </p:nvSpPr>
        <p:spPr>
          <a:xfrm>
            <a:off x="758952" y="4507992"/>
            <a:ext cx="2240280" cy="365760"/>
          </a:xfrm>
          <a:prstGeom prst="rect">
            <a:avLst/>
          </a:prstGeom>
          <a:noFill/>
        </p:spPr>
        <p:txBody>
          <a:bodyPr wrap="square" lIns="0" rIns="0" tIns="0" bIns="0">
            <a:spAutoFit/>
          </a:bodyPr>
          <a:lstStyle/>
          <a:p>
            <a:pPr>
              <a:lnSpc>
                <a:spcPct val="110000"/>
              </a:lnSpc>
              <a:spcAft>
                <a:spcPts val="0"/>
              </a:spcAft>
              <a:defRPr sz="1600" b="1">
                <a:solidFill>
                  <a:srgbClr val="123C35"/>
                </a:solidFill>
                <a:latin typeface="Aptos"/>
              </a:defRPr>
            </a:pPr>
            <a:r>
              <a:t>Validation</a:t>
            </a:r>
          </a:p>
        </p:txBody>
      </p:sp>
      <p:sp>
        <p:nvSpPr>
          <p:cNvPr id="17" name="TextBox 16"/>
          <p:cNvSpPr txBox="1"/>
          <p:nvPr/>
        </p:nvSpPr>
        <p:spPr>
          <a:xfrm>
            <a:off x="3090672" y="4507992"/>
            <a:ext cx="8275320" cy="621792"/>
          </a:xfrm>
          <a:prstGeom prst="rect">
            <a:avLst/>
          </a:prstGeom>
          <a:noFill/>
        </p:spPr>
        <p:txBody>
          <a:bodyPr wrap="square" lIns="0" rIns="0" tIns="0" bIns="0">
            <a:spAutoFit/>
          </a:bodyPr>
          <a:lstStyle/>
          <a:p>
            <a:pPr>
              <a:lnSpc>
                <a:spcPct val="110000"/>
              </a:lnSpc>
              <a:spcAft>
                <a:spcPts val="0"/>
              </a:spcAft>
              <a:defRPr sz="1500" b="0">
                <a:solidFill>
                  <a:srgbClr val="162E29"/>
                </a:solidFill>
                <a:latin typeface="Aptos"/>
              </a:defRPr>
            </a:pPr>
            <a:r>
              <a:t>build/entry: npm test; npm run scoreboard · 27 Oct 2026</a:t>
            </a:r>
          </a:p>
        </p:txBody>
      </p:sp>
      <p:sp>
        <p:nvSpPr>
          <p:cNvPr id="18" name="TextBox 17"/>
          <p:cNvSpPr txBox="1"/>
          <p:nvPr/>
        </p:nvSpPr>
        <p:spPr>
          <a:xfrm>
            <a:off x="758952" y="5202936"/>
            <a:ext cx="2240280" cy="365760"/>
          </a:xfrm>
          <a:prstGeom prst="rect">
            <a:avLst/>
          </a:prstGeom>
          <a:noFill/>
        </p:spPr>
        <p:txBody>
          <a:bodyPr wrap="square" lIns="0" rIns="0" tIns="0" bIns="0">
            <a:spAutoFit/>
          </a:bodyPr>
          <a:lstStyle/>
          <a:p>
            <a:pPr>
              <a:lnSpc>
                <a:spcPct val="110000"/>
              </a:lnSpc>
              <a:spcAft>
                <a:spcPts val="0"/>
              </a:spcAft>
              <a:defRPr sz="1600" b="1">
                <a:solidFill>
                  <a:srgbClr val="123C35"/>
                </a:solidFill>
                <a:latin typeface="Aptos"/>
              </a:defRPr>
            </a:pPr>
            <a:r>
              <a:t>Claim discipline</a:t>
            </a:r>
          </a:p>
        </p:txBody>
      </p:sp>
      <p:sp>
        <p:nvSpPr>
          <p:cNvPr id="19" name="TextBox 18"/>
          <p:cNvSpPr txBox="1"/>
          <p:nvPr/>
        </p:nvSpPr>
        <p:spPr>
          <a:xfrm>
            <a:off x="3090672" y="5202936"/>
            <a:ext cx="8275320" cy="621792"/>
          </a:xfrm>
          <a:prstGeom prst="rect">
            <a:avLst/>
          </a:prstGeom>
          <a:noFill/>
        </p:spPr>
        <p:txBody>
          <a:bodyPr wrap="square" lIns="0" rIns="0" tIns="0" bIns="0">
            <a:spAutoFit/>
          </a:bodyPr>
          <a:lstStyle/>
          <a:p>
            <a:pPr>
              <a:lnSpc>
                <a:spcPct val="110000"/>
              </a:lnSpc>
              <a:spcAft>
                <a:spcPts val="0"/>
              </a:spcAft>
              <a:defRPr sz="1500" b="0">
                <a:solidFill>
                  <a:srgbClr val="162E29"/>
                </a:solidFill>
                <a:latin typeface="Aptos"/>
              </a:defRPr>
            </a:pPr>
            <a:r>
              <a:t>Illustrative R70 000 scenario; synthetic demo files; no market-size, fraud-loss or recovery claims.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